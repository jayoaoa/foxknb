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7" r:id="rId2"/>
    <p:sldId id="309" r:id="rId3"/>
    <p:sldId id="354" r:id="rId4"/>
    <p:sldId id="287" r:id="rId5"/>
    <p:sldId id="288" r:id="rId6"/>
    <p:sldId id="304" r:id="rId7"/>
    <p:sldId id="289" r:id="rId8"/>
    <p:sldId id="290" r:id="rId9"/>
    <p:sldId id="291" r:id="rId10"/>
    <p:sldId id="324" r:id="rId11"/>
    <p:sldId id="305" r:id="rId12"/>
    <p:sldId id="292" r:id="rId13"/>
    <p:sldId id="293" r:id="rId14"/>
    <p:sldId id="294" r:id="rId15"/>
    <p:sldId id="326" r:id="rId16"/>
    <p:sldId id="357" r:id="rId17"/>
    <p:sldId id="295" r:id="rId18"/>
    <p:sldId id="296" r:id="rId19"/>
    <p:sldId id="356" r:id="rId20"/>
    <p:sldId id="355" r:id="rId21"/>
    <p:sldId id="298" r:id="rId22"/>
    <p:sldId id="323" r:id="rId23"/>
    <p:sldId id="353" r:id="rId24"/>
    <p:sldId id="352" r:id="rId25"/>
    <p:sldId id="300" r:id="rId26"/>
    <p:sldId id="303" r:id="rId27"/>
    <p:sldId id="358" r:id="rId28"/>
    <p:sldId id="359" r:id="rId29"/>
    <p:sldId id="259" r:id="rId30"/>
    <p:sldId id="267" r:id="rId31"/>
    <p:sldId id="264" r:id="rId32"/>
    <p:sldId id="340" r:id="rId33"/>
    <p:sldId id="341" r:id="rId34"/>
    <p:sldId id="342" r:id="rId35"/>
    <p:sldId id="343" r:id="rId36"/>
    <p:sldId id="344" r:id="rId37"/>
    <p:sldId id="331" r:id="rId38"/>
    <p:sldId id="261" r:id="rId39"/>
    <p:sldId id="262" r:id="rId40"/>
    <p:sldId id="335" r:id="rId41"/>
    <p:sldId id="336" r:id="rId42"/>
    <p:sldId id="337" r:id="rId43"/>
    <p:sldId id="263" r:id="rId44"/>
    <p:sldId id="338" r:id="rId45"/>
    <p:sldId id="339" r:id="rId46"/>
    <p:sldId id="345" r:id="rId47"/>
    <p:sldId id="346" r:id="rId48"/>
    <p:sldId id="347" r:id="rId49"/>
    <p:sldId id="350" r:id="rId50"/>
    <p:sldId id="348" r:id="rId51"/>
    <p:sldId id="349" r:id="rId52"/>
    <p:sldId id="351" r:id="rId5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3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9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41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224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78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5571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20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91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06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96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8186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140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3435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997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822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558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94C57-EC3D-4772-B19D-1FD7BEDBE6D2}" type="datetimeFigureOut">
              <a:rPr lang="zh-TW" altLang="en-US" smtClean="0"/>
              <a:pPr/>
              <a:t>2016/4/29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975CB8B-AA42-441D-8D3A-0254620219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71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10.62.2.75/reviewboard/dashboard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87146" y="2582558"/>
            <a:ext cx="8291385" cy="1616675"/>
          </a:xfrm>
        </p:spPr>
        <p:txBody>
          <a:bodyPr>
            <a:noAutofit/>
          </a:bodyPr>
          <a:lstStyle/>
          <a:p>
            <a:r>
              <a:rPr lang="en-US" altLang="zh-TW" sz="4400" b="1" dirty="0" smtClean="0"/>
              <a:t>Introduction to </a:t>
            </a:r>
            <a:br>
              <a:rPr lang="en-US" altLang="zh-TW" sz="4400" b="1" dirty="0" smtClean="0"/>
            </a:br>
            <a:r>
              <a:rPr lang="en-US" altLang="zh-TW" sz="4400" b="1" dirty="0" smtClean="0"/>
              <a:t>					Code Review</a:t>
            </a:r>
            <a:endParaRPr lang="zh-TW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27679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599396"/>
            <a:ext cx="8911687" cy="1280890"/>
          </a:xfrm>
        </p:spPr>
        <p:txBody>
          <a:bodyPr/>
          <a:lstStyle/>
          <a:p>
            <a:r>
              <a:rPr lang="en-US" altLang="zh-TW" b="1" dirty="0" smtClean="0"/>
              <a:t>Agenda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588476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400" b="1" dirty="0" smtClean="0"/>
              <a:t>Why Code Review</a:t>
            </a:r>
          </a:p>
          <a:p>
            <a:r>
              <a:rPr lang="en-US" altLang="zh-TW" sz="2400" b="1" dirty="0" smtClean="0"/>
              <a:t>Code </a:t>
            </a:r>
            <a:r>
              <a:rPr lang="en-US" altLang="zh-TW" sz="2400" b="1" dirty="0"/>
              <a:t>Review </a:t>
            </a:r>
            <a:r>
              <a:rPr lang="en-US" altLang="zh-TW" sz="2400" b="1" dirty="0" smtClean="0"/>
              <a:t>Guideline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sz="2000" dirty="0" smtClean="0"/>
              <a:t>三層架構</a:t>
            </a:r>
            <a:endParaRPr lang="en-US" altLang="zh-TW" sz="20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sz="2000" dirty="0" smtClean="0"/>
              <a:t>實做</a:t>
            </a:r>
            <a:endParaRPr lang="en-US" altLang="zh-TW" sz="20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sz="2000" dirty="0" smtClean="0"/>
              <a:t>程式風格</a:t>
            </a:r>
            <a:endParaRPr lang="en-US" altLang="zh-TW" sz="20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2000" dirty="0" smtClean="0"/>
              <a:t>Commit massage naming</a:t>
            </a:r>
            <a:endParaRPr lang="zh-TW" altLang="en-US" sz="2000" dirty="0" smtClean="0"/>
          </a:p>
          <a:p>
            <a:r>
              <a:rPr lang="en-US" altLang="zh-TW" sz="2400" b="1" dirty="0" smtClean="0"/>
              <a:t>Code </a:t>
            </a:r>
            <a:r>
              <a:rPr lang="en-US" altLang="zh-TW" sz="2400" b="1" dirty="0"/>
              <a:t>Review </a:t>
            </a:r>
            <a:r>
              <a:rPr lang="zh-TW" altLang="en-US" sz="2400" b="1" dirty="0" smtClean="0"/>
              <a:t>專案實</a:t>
            </a:r>
            <a:r>
              <a:rPr lang="zh-TW" altLang="en-US" sz="2400" b="1" dirty="0"/>
              <a:t>例</a:t>
            </a:r>
            <a:r>
              <a:rPr lang="en-US" altLang="zh-TW" sz="2400" b="1" dirty="0" smtClean="0"/>
              <a:t> – Amazon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2000" dirty="0" smtClean="0"/>
              <a:t>Code review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2000" dirty="0" smtClean="0"/>
              <a:t>Review example</a:t>
            </a:r>
            <a:endParaRPr lang="en-US" altLang="zh-TW" sz="2000" dirty="0"/>
          </a:p>
          <a:p>
            <a:r>
              <a:rPr lang="en-US" altLang="zh-TW" sz="2400" b="1" dirty="0" smtClean="0"/>
              <a:t>Code Review</a:t>
            </a:r>
            <a:r>
              <a:rPr lang="zh-TW" altLang="en-US" sz="2400" b="1" dirty="0"/>
              <a:t>專案實例</a:t>
            </a:r>
            <a:r>
              <a:rPr lang="en-US" altLang="zh-TW" sz="2400" b="1" dirty="0"/>
              <a:t> –</a:t>
            </a:r>
            <a:r>
              <a:rPr lang="zh-TW" altLang="en-US" sz="2400" b="1" dirty="0" smtClean="0"/>
              <a:t> </a:t>
            </a:r>
            <a:r>
              <a:rPr lang="en-US" altLang="zh-TW" sz="2400" b="1" dirty="0" err="1" smtClean="0"/>
              <a:t>Stryper</a:t>
            </a:r>
            <a:endParaRPr lang="en-US" altLang="zh-TW" sz="2400" b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2000" dirty="0" smtClean="0"/>
              <a:t>Review example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95304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Why Code Review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069492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2400" b="1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Performance improvements</a:t>
            </a:r>
            <a:endParaRPr lang="en-US" altLang="zh-TW" sz="2400" b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 smtClean="0"/>
              <a:t>藉由審查找出不必要或重複性的程式碼，減少資源浪費</a:t>
            </a:r>
            <a:endParaRPr lang="en-US" altLang="zh-TW" dirty="0" smtClean="0"/>
          </a:p>
          <a:p>
            <a:r>
              <a:rPr lang="en-US" altLang="zh-TW" sz="2400" b="1" dirty="0" smtClean="0"/>
              <a:t>Find bugs </a:t>
            </a:r>
            <a:r>
              <a:rPr lang="en-US" altLang="zh-TW" sz="2400" b="1" dirty="0"/>
              <a:t>in </a:t>
            </a:r>
            <a:r>
              <a:rPr lang="en-US" altLang="zh-TW" sz="2400" b="1" dirty="0" smtClean="0"/>
              <a:t>advance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 smtClean="0"/>
              <a:t>事前找出</a:t>
            </a:r>
            <a:r>
              <a:rPr lang="en-US" altLang="zh-TW" dirty="0" smtClean="0"/>
              <a:t>bug</a:t>
            </a:r>
            <a:r>
              <a:rPr lang="zh-TW" altLang="en-US" dirty="0" smtClean="0"/>
              <a:t>來降低開發</a:t>
            </a:r>
            <a:r>
              <a:rPr lang="zh-TW" altLang="en-US" dirty="0" smtClean="0"/>
              <a:t>成本</a:t>
            </a:r>
            <a:endParaRPr lang="en-US" altLang="zh-TW" sz="2000" b="1" dirty="0" smtClean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r>
              <a:rPr lang="en-US" altLang="zh-TW" sz="2400" b="1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Accessibility</a:t>
            </a:r>
            <a:endParaRPr lang="en-US" altLang="zh-TW" sz="2400" b="1" dirty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 marL="800100" lvl="2" indent="-400050">
              <a:buFont typeface="Wingdings" panose="05000000000000000000" pitchFamily="2" charset="2"/>
              <a:buChar char="ü"/>
            </a:pPr>
            <a:r>
              <a:rPr lang="zh-TW" altLang="en-US" dirty="0"/>
              <a:t>維持一貫的程式風格來增加往後開發者的</a:t>
            </a:r>
            <a:r>
              <a:rPr lang="zh-TW" altLang="en-US" dirty="0" smtClean="0"/>
              <a:t>可讀性</a:t>
            </a:r>
            <a:endParaRPr lang="en-US" altLang="zh-TW" sz="2400" b="1" dirty="0" smtClean="0"/>
          </a:p>
          <a:p>
            <a:r>
              <a:rPr lang="en-US" altLang="zh-TW" sz="2600" b="1" dirty="0" smtClean="0"/>
              <a:t>Teaching </a:t>
            </a:r>
            <a:r>
              <a:rPr lang="en-US" altLang="zh-TW" sz="2600" b="1" dirty="0"/>
              <a:t>and sharing knowledge between </a:t>
            </a:r>
            <a:r>
              <a:rPr lang="en-US" altLang="zh-TW" sz="2600" b="1" dirty="0" smtClean="0"/>
              <a:t>developers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reviewer</a:t>
            </a:r>
            <a:r>
              <a:rPr lang="zh-TW" altLang="en-US" dirty="0" smtClean="0"/>
              <a:t>與</a:t>
            </a:r>
            <a:r>
              <a:rPr lang="en-US" altLang="zh-TW" dirty="0" smtClean="0"/>
              <a:t>author</a:t>
            </a:r>
            <a:r>
              <a:rPr lang="zh-TW" altLang="en-US" dirty="0" smtClean="0"/>
              <a:t>可以從中學習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分享經驗</a:t>
            </a:r>
            <a:endParaRPr lang="en-US" altLang="zh-TW" dirty="0" smtClean="0"/>
          </a:p>
          <a:p>
            <a:r>
              <a:rPr lang="en-US" altLang="zh-TW" sz="2600" b="1" dirty="0">
                <a:solidFill>
                  <a:schemeClr val="tx1"/>
                </a:solidFill>
                <a:ea typeface="新細明體" panose="02020500000000000000" pitchFamily="18" charset="-120"/>
              </a:rPr>
              <a:t>Consistent coding architecture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 smtClean="0"/>
              <a:t>保持相同的程式架構可以增加可移植性</a:t>
            </a:r>
            <a:endParaRPr lang="en-US" altLang="zh-TW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 smtClean="0"/>
              <a:t>針對不同的</a:t>
            </a:r>
            <a:r>
              <a:rPr lang="en-US" altLang="zh-TW" dirty="0" smtClean="0"/>
              <a:t>vendor code base</a:t>
            </a:r>
            <a:r>
              <a:rPr lang="zh-TW" altLang="en-US" dirty="0"/>
              <a:t> </a:t>
            </a:r>
            <a:r>
              <a:rPr lang="en-US" altLang="zh-TW" dirty="0" smtClean="0"/>
              <a:t>Foxconn</a:t>
            </a:r>
            <a:r>
              <a:rPr lang="zh-TW" altLang="en-US" dirty="0" smtClean="0"/>
              <a:t>自訂義</a:t>
            </a:r>
            <a:r>
              <a:rPr lang="zh-TW" altLang="en-US" dirty="0" smtClean="0">
                <a:solidFill>
                  <a:srgbClr val="FF0000"/>
                </a:solidFill>
              </a:rPr>
              <a:t>三層架構</a:t>
            </a:r>
            <a:r>
              <a:rPr lang="zh-TW" altLang="en-US" dirty="0" smtClean="0"/>
              <a:t>來保持程式架構的一致性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678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三</a:t>
            </a:r>
            <a:r>
              <a:rPr lang="zh-TW" altLang="en-US" b="1" dirty="0"/>
              <a:t>層</a:t>
            </a:r>
            <a:r>
              <a:rPr lang="zh-TW" altLang="en-US" b="1" dirty="0" smtClean="0"/>
              <a:t>架構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zh-TW" altLang="en-US" sz="2000" b="1" dirty="0" smtClean="0"/>
              <a:t>分</a:t>
            </a:r>
            <a:r>
              <a:rPr lang="zh-TW" altLang="en-US" sz="2000" b="1" dirty="0"/>
              <a:t>拆核心</a:t>
            </a:r>
            <a:r>
              <a:rPr lang="en-US" altLang="zh-TW" sz="2000" b="1" dirty="0"/>
              <a:t>/</a:t>
            </a:r>
            <a:r>
              <a:rPr lang="zh-TW" altLang="en-US" sz="2000" b="1" dirty="0"/>
              <a:t>硬體平台</a:t>
            </a:r>
            <a:r>
              <a:rPr lang="en-US" altLang="zh-TW" sz="2000" b="1" dirty="0"/>
              <a:t>/</a:t>
            </a:r>
            <a:r>
              <a:rPr lang="zh-TW" altLang="en-US" sz="2000" b="1" dirty="0"/>
              <a:t>功能集，目的在於讓功能集能夠搭配不同的硬體</a:t>
            </a:r>
            <a:r>
              <a:rPr lang="zh-TW" altLang="en-US" sz="2000" b="1" dirty="0" smtClean="0"/>
              <a:t>平台</a:t>
            </a:r>
            <a:endParaRPr lang="en-US" altLang="zh-TW" sz="2000" b="1" dirty="0" smtClean="0"/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三層架構可以分成</a:t>
            </a:r>
            <a:r>
              <a:rPr lang="en-US" altLang="zh-TW" dirty="0" err="1" smtClean="0"/>
              <a:t>Vendor_API</a:t>
            </a:r>
            <a:r>
              <a:rPr lang="zh-TW" altLang="en-US" dirty="0" smtClean="0"/>
              <a:t> </a:t>
            </a:r>
            <a:r>
              <a:rPr lang="en-US" altLang="zh-TW" dirty="0" smtClean="0"/>
              <a:t>/</a:t>
            </a:r>
            <a:r>
              <a:rPr lang="zh-TW" altLang="en-US" dirty="0" smtClean="0"/>
              <a:t> </a:t>
            </a:r>
            <a:r>
              <a:rPr lang="en-US" altLang="zh-TW" dirty="0" smtClean="0"/>
              <a:t>FXN_API</a:t>
            </a:r>
            <a:r>
              <a:rPr lang="zh-TW" altLang="en-US" dirty="0" smtClean="0"/>
              <a:t> </a:t>
            </a:r>
            <a:r>
              <a:rPr lang="en-US" altLang="zh-TW" dirty="0" smtClean="0"/>
              <a:t>/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FXN_feature</a:t>
            </a:r>
            <a:r>
              <a:rPr lang="zh-TW" altLang="en-US" dirty="0" smtClean="0"/>
              <a:t>三層架構，把</a:t>
            </a:r>
            <a:r>
              <a:rPr lang="en-US" altLang="zh-TW" dirty="0" smtClean="0"/>
              <a:t>API</a:t>
            </a:r>
            <a:r>
              <a:rPr lang="zh-TW" altLang="en-US" dirty="0" smtClean="0"/>
              <a:t>與</a:t>
            </a:r>
            <a:r>
              <a:rPr lang="en-US" altLang="zh-TW" dirty="0" smtClean="0"/>
              <a:t>feature layer</a:t>
            </a:r>
            <a:r>
              <a:rPr lang="zh-TW" altLang="en-US" dirty="0" smtClean="0"/>
              <a:t>獨立切開，轉換平台只需要改寫中間層</a:t>
            </a:r>
            <a:r>
              <a:rPr lang="en-US" altLang="zh-TW" dirty="0" smtClean="0"/>
              <a:t>FXN_API</a:t>
            </a:r>
            <a:r>
              <a:rPr lang="zh-TW" altLang="en-US" dirty="0" smtClean="0"/>
              <a:t>，省去開發</a:t>
            </a:r>
            <a:r>
              <a:rPr lang="en-US" altLang="zh-TW" dirty="0" err="1" smtClean="0"/>
              <a:t>FXN_feature</a:t>
            </a:r>
            <a:r>
              <a:rPr lang="zh-TW" altLang="en-US" dirty="0" smtClean="0"/>
              <a:t>時間</a:t>
            </a:r>
            <a:endParaRPr lang="en-US" altLang="zh-TW" dirty="0" smtClean="0"/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以往架構是</a:t>
            </a:r>
            <a:r>
              <a:rPr lang="en-US" altLang="zh-TW" dirty="0" err="1" smtClean="0"/>
              <a:t>Vendor_API</a:t>
            </a:r>
            <a:r>
              <a:rPr lang="en-US" altLang="zh-TW" dirty="0" smtClean="0"/>
              <a:t>/FXN_APP(</a:t>
            </a:r>
            <a:r>
              <a:rPr lang="zh-TW" altLang="en-US" dirty="0" smtClean="0"/>
              <a:t>包含</a:t>
            </a:r>
            <a:r>
              <a:rPr lang="en-US" altLang="zh-TW" dirty="0" smtClean="0"/>
              <a:t>API</a:t>
            </a:r>
            <a:r>
              <a:rPr lang="zh-TW" altLang="en-US" dirty="0" smtClean="0"/>
              <a:t>與</a:t>
            </a:r>
            <a:r>
              <a:rPr lang="en-US" altLang="zh-TW" dirty="0" smtClean="0"/>
              <a:t>feature)</a:t>
            </a:r>
            <a:r>
              <a:rPr lang="zh-TW" altLang="en-US" dirty="0" smtClean="0"/>
              <a:t>，轉換硬體平台需改寫</a:t>
            </a:r>
            <a:r>
              <a:rPr lang="en-US" altLang="zh-TW" dirty="0" smtClean="0"/>
              <a:t>FXN_APP</a:t>
            </a:r>
            <a:r>
              <a:rPr lang="zh-TW" altLang="en-US" dirty="0" smtClean="0"/>
              <a:t>，需要一併修改</a:t>
            </a:r>
            <a:r>
              <a:rPr lang="en-US" altLang="zh-TW" dirty="0" smtClean="0"/>
              <a:t>API</a:t>
            </a:r>
            <a:r>
              <a:rPr lang="zh-TW" altLang="en-US" dirty="0" smtClean="0"/>
              <a:t>和</a:t>
            </a:r>
            <a:r>
              <a:rPr lang="en-US" altLang="zh-TW" dirty="0" smtClean="0"/>
              <a:t>feature</a:t>
            </a:r>
          </a:p>
          <a:p>
            <a:pPr fontAlgn="base"/>
            <a:r>
              <a:rPr lang="zh-TW" altLang="en-US" sz="2000" b="1" dirty="0" smtClean="0"/>
              <a:t>盡可能</a:t>
            </a:r>
            <a:r>
              <a:rPr lang="zh-TW" altLang="en-US" sz="2000" b="1" dirty="0"/>
              <a:t>重複利用現有的程式碼與套件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 範例</a:t>
            </a:r>
            <a:r>
              <a:rPr lang="zh-TW" altLang="en-US" dirty="0"/>
              <a:t>：執行序的管理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 範例</a:t>
            </a:r>
            <a:r>
              <a:rPr lang="zh-TW" altLang="en-US" dirty="0"/>
              <a:t>：</a:t>
            </a:r>
            <a:r>
              <a:rPr lang="en-US" altLang="zh-TW" dirty="0"/>
              <a:t>Timer</a:t>
            </a:r>
            <a:r>
              <a:rPr lang="zh-TW" altLang="en-US" dirty="0"/>
              <a:t>的管理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3928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實</a:t>
            </a:r>
            <a:r>
              <a:rPr lang="zh-TW" altLang="en-US" b="1" dirty="0" smtClean="0"/>
              <a:t>做</a:t>
            </a:r>
            <a:r>
              <a:rPr lang="en-US" altLang="zh-TW" b="1" dirty="0" smtClean="0"/>
              <a:t>(1/4)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altLang="zh-TW" sz="2000" b="1" dirty="0" err="1"/>
              <a:t>Wrokaround</a:t>
            </a:r>
            <a:r>
              <a:rPr lang="en-US" altLang="zh-TW" sz="2000" b="1" dirty="0"/>
              <a:t> </a:t>
            </a:r>
            <a:r>
              <a:rPr lang="zh-TW" altLang="en-US" sz="2000" b="1" dirty="0"/>
              <a:t>應加上註解說明理由</a:t>
            </a:r>
          </a:p>
          <a:p>
            <a:pPr fontAlgn="base"/>
            <a:r>
              <a:rPr lang="zh-TW" altLang="en-US" sz="2000" b="1" dirty="0"/>
              <a:t>不得出現任何編譯器警告</a:t>
            </a:r>
          </a:p>
          <a:p>
            <a:pPr fontAlgn="base"/>
            <a:r>
              <a:rPr lang="zh-TW" altLang="en-US" sz="2000" b="1" dirty="0"/>
              <a:t>任何執行時期的資源要求，必須有相對應的歸還動作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範例</a:t>
            </a:r>
            <a:r>
              <a:rPr lang="zh-TW" altLang="en-US" dirty="0"/>
              <a:t>：</a:t>
            </a:r>
            <a:r>
              <a:rPr lang="en-US" altLang="zh-TW" dirty="0" err="1"/>
              <a:t>calloc</a:t>
            </a:r>
            <a:r>
              <a:rPr lang="en-US" altLang="zh-TW" dirty="0"/>
              <a:t>/</a:t>
            </a:r>
            <a:r>
              <a:rPr lang="en-US" altLang="zh-TW" dirty="0" err="1"/>
              <a:t>malloc</a:t>
            </a:r>
            <a:r>
              <a:rPr lang="zh-TW" altLang="en-US" dirty="0"/>
              <a:t>必須有對應的</a:t>
            </a:r>
            <a:r>
              <a:rPr lang="en-US" altLang="zh-TW" dirty="0"/>
              <a:t>free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範例</a:t>
            </a:r>
            <a:r>
              <a:rPr lang="zh-TW" altLang="en-US" dirty="0"/>
              <a:t>：</a:t>
            </a:r>
            <a:r>
              <a:rPr lang="en-US" altLang="zh-TW" dirty="0" err="1"/>
              <a:t>pthread_create</a:t>
            </a:r>
            <a:r>
              <a:rPr lang="zh-TW" altLang="en-US" dirty="0"/>
              <a:t>必須有對應的</a:t>
            </a:r>
            <a:r>
              <a:rPr lang="en-US" altLang="zh-TW" dirty="0" err="1"/>
              <a:t>pthread_join</a:t>
            </a:r>
            <a:r>
              <a:rPr lang="en-US" altLang="zh-TW" dirty="0"/>
              <a:t>/</a:t>
            </a:r>
            <a:r>
              <a:rPr lang="en-US" altLang="zh-TW" dirty="0" err="1"/>
              <a:t>pthread_detach</a:t>
            </a:r>
            <a:endParaRPr lang="en-US" altLang="zh-TW" dirty="0"/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 </a:t>
            </a:r>
            <a:r>
              <a:rPr lang="zh-TW" altLang="en-US" dirty="0" smtClean="0"/>
              <a:t>範例</a:t>
            </a:r>
            <a:r>
              <a:rPr lang="zh-TW" altLang="en-US" dirty="0"/>
              <a:t>：</a:t>
            </a:r>
            <a:r>
              <a:rPr lang="en-US" altLang="zh-TW" dirty="0"/>
              <a:t>open</a:t>
            </a:r>
            <a:r>
              <a:rPr lang="zh-TW" altLang="en-US" dirty="0"/>
              <a:t>必須有對應的</a:t>
            </a:r>
            <a:r>
              <a:rPr lang="en-US" altLang="zh-TW" dirty="0"/>
              <a:t>close</a:t>
            </a:r>
          </a:p>
          <a:p>
            <a:pPr fontAlgn="base"/>
            <a:r>
              <a:rPr lang="zh-TW" altLang="en-US" sz="2000" b="1" dirty="0"/>
              <a:t>檔頭</a:t>
            </a:r>
            <a:r>
              <a:rPr lang="en-US" altLang="zh-TW" sz="2000" b="1" dirty="0"/>
              <a:t>(Headers)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檔</a:t>
            </a:r>
            <a:r>
              <a:rPr lang="zh-TW" altLang="en-US" dirty="0"/>
              <a:t>頭裡的函數必須確實是界面的一部分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檔</a:t>
            </a:r>
            <a:r>
              <a:rPr lang="zh-TW" altLang="en-US" dirty="0"/>
              <a:t>頭裡的變數只能是</a:t>
            </a:r>
            <a:r>
              <a:rPr lang="en-US" altLang="zh-TW" dirty="0"/>
              <a:t>extern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 smtClean="0"/>
              <a:t>檔</a:t>
            </a:r>
            <a:r>
              <a:rPr lang="zh-TW" altLang="en-US" dirty="0"/>
              <a:t>頭如果使用不在</a:t>
            </a:r>
            <a:r>
              <a:rPr lang="en-US" altLang="zh-TW" dirty="0"/>
              <a:t>C</a:t>
            </a:r>
            <a:r>
              <a:rPr lang="zh-TW" altLang="en-US" dirty="0"/>
              <a:t>標準裡的類別，應主動引入</a:t>
            </a:r>
            <a:r>
              <a:rPr lang="en-US" altLang="zh-TW" dirty="0"/>
              <a:t>(include)</a:t>
            </a:r>
            <a:r>
              <a:rPr lang="zh-TW" altLang="en-US" dirty="0"/>
              <a:t>相關檔</a:t>
            </a:r>
            <a:r>
              <a:rPr lang="zh-TW" altLang="en-US" dirty="0" smtClean="0"/>
              <a:t>頭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528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實做</a:t>
            </a:r>
            <a:r>
              <a:rPr lang="en-US" altLang="zh-TW" b="1" dirty="0" smtClean="0"/>
              <a:t>(2/4)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zh-TW" altLang="en-US" sz="2000" b="1" dirty="0"/>
              <a:t>如果修改了</a:t>
            </a:r>
            <a:r>
              <a:rPr lang="en-US" altLang="zh-TW" sz="2000" b="1" dirty="0" err="1"/>
              <a:t>Kconfig</a:t>
            </a:r>
            <a:r>
              <a:rPr lang="zh-TW" altLang="en-US" sz="2000" b="1" dirty="0"/>
              <a:t>，必須重新產生所有的</a:t>
            </a:r>
            <a:r>
              <a:rPr lang="en-US" altLang="zh-TW" sz="2000" b="1" dirty="0" err="1"/>
              <a:t>configs</a:t>
            </a:r>
            <a:endParaRPr lang="en-US" altLang="zh-TW" sz="2000" b="1" dirty="0"/>
          </a:p>
          <a:p>
            <a:pPr marL="457200" lvl="1" indent="0" fontAlgn="base">
              <a:buNone/>
            </a:pPr>
            <a:r>
              <a:rPr lang="en-US" altLang="zh-TW" dirty="0" smtClean="0"/>
              <a:t>-</a:t>
            </a:r>
            <a:r>
              <a:rPr lang="zh-TW" altLang="en-US" dirty="0" smtClean="0"/>
              <a:t> 只</a:t>
            </a:r>
            <a:r>
              <a:rPr lang="zh-TW" altLang="en-US" dirty="0"/>
              <a:t>須</a:t>
            </a:r>
            <a:r>
              <a:rPr lang="en-US" altLang="zh-TW" dirty="0"/>
              <a:t>make </a:t>
            </a:r>
            <a:r>
              <a:rPr lang="en-US" altLang="zh-TW" dirty="0" err="1"/>
              <a:t>menuconfig</a:t>
            </a:r>
            <a:r>
              <a:rPr lang="zh-TW" altLang="en-US" dirty="0"/>
              <a:t>，不做任何修改，存檔、離開</a:t>
            </a:r>
          </a:p>
          <a:p>
            <a:pPr fontAlgn="base"/>
            <a:r>
              <a:rPr lang="zh-TW" altLang="en-US" sz="2000" b="1" dirty="0"/>
              <a:t>類別名稱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zh-TW" altLang="en-US" sz="1800" dirty="0"/>
              <a:t>一個類別只可有一個名字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請避免這樣的雙重命名：</a:t>
            </a:r>
            <a:r>
              <a:rPr lang="en-US" altLang="zh-TW" sz="1600" dirty="0" err="1"/>
              <a:t>typedef</a:t>
            </a:r>
            <a:r>
              <a:rPr lang="en-US" altLang="zh-TW" sz="1600" dirty="0"/>
              <a:t> </a:t>
            </a:r>
            <a:r>
              <a:rPr lang="en-US" altLang="zh-TW" sz="1600" dirty="0" err="1"/>
              <a:t>struct</a:t>
            </a:r>
            <a:r>
              <a:rPr lang="en-US" altLang="zh-TW" sz="1600" dirty="0"/>
              <a:t> Name1 { … } Name2;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zh-TW" altLang="en-US" sz="1800" dirty="0"/>
              <a:t>盡可能使用 </a:t>
            </a:r>
            <a:r>
              <a:rPr lang="en-US" altLang="zh-TW" sz="1800" dirty="0"/>
              <a:t>standard C library </a:t>
            </a:r>
            <a:r>
              <a:rPr lang="zh-TW" altLang="en-US" sz="1800" dirty="0"/>
              <a:t>定義的</a:t>
            </a:r>
            <a:r>
              <a:rPr lang="zh-TW" altLang="en-US" sz="1800" dirty="0" smtClean="0"/>
              <a:t>類別</a:t>
            </a:r>
            <a:endParaRPr lang="en-US" altLang="zh-TW" dirty="0"/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en-US" altLang="zh-TW" sz="1400" dirty="0" err="1" smtClean="0"/>
              <a:t>stdint.h</a:t>
            </a:r>
            <a:endParaRPr lang="en-US" altLang="zh-TW" dirty="0"/>
          </a:p>
          <a:p>
            <a:pPr marL="914400" lvl="2" indent="0" fontAlgn="base">
              <a:buNone/>
            </a:pPr>
            <a:r>
              <a:rPr lang="zh-TW" altLang="en-US" sz="1600" dirty="0"/>
              <a:t> </a:t>
            </a:r>
            <a:r>
              <a:rPr lang="zh-TW" altLang="en-US" sz="1600" dirty="0" smtClean="0"/>
              <a:t>   </a:t>
            </a:r>
            <a:r>
              <a:rPr lang="en-US" altLang="zh-TW" sz="1600" dirty="0" smtClean="0"/>
              <a:t>-</a:t>
            </a:r>
            <a:r>
              <a:rPr lang="zh-TW" altLang="en-US" sz="1600" dirty="0" smtClean="0"/>
              <a:t> </a:t>
            </a:r>
            <a:r>
              <a:rPr lang="en-US" altLang="zh-TW" sz="1600" dirty="0" smtClean="0"/>
              <a:t>uint8_t </a:t>
            </a:r>
            <a:r>
              <a:rPr lang="en-US" altLang="zh-TW" sz="1600" dirty="0"/>
              <a:t>/ </a:t>
            </a:r>
            <a:r>
              <a:rPr lang="en-US" altLang="zh-TW" sz="1600" dirty="0" smtClean="0"/>
              <a:t>int8_t</a:t>
            </a:r>
          </a:p>
          <a:p>
            <a:pPr marL="914400" lvl="2" indent="0" fontAlgn="base">
              <a:buNone/>
            </a:pPr>
            <a:r>
              <a:rPr lang="zh-TW" altLang="en-US" sz="1600" dirty="0"/>
              <a:t> </a:t>
            </a:r>
            <a:r>
              <a:rPr lang="zh-TW" altLang="en-US" sz="1600" dirty="0" smtClean="0"/>
              <a:t>   </a:t>
            </a:r>
            <a:r>
              <a:rPr lang="en-US" altLang="zh-TW" sz="1600" dirty="0" smtClean="0"/>
              <a:t>-</a:t>
            </a:r>
            <a:r>
              <a:rPr lang="zh-TW" altLang="en-US" sz="1600" dirty="0" smtClean="0"/>
              <a:t> </a:t>
            </a:r>
            <a:r>
              <a:rPr lang="en-US" altLang="zh-TW" sz="1600" dirty="0" smtClean="0"/>
              <a:t>uint16_t </a:t>
            </a:r>
            <a:r>
              <a:rPr lang="en-US" altLang="zh-TW" sz="1600" dirty="0"/>
              <a:t>/ </a:t>
            </a:r>
            <a:r>
              <a:rPr lang="en-US" altLang="zh-TW" sz="1600" dirty="0" smtClean="0"/>
              <a:t>int16_t</a:t>
            </a:r>
          </a:p>
          <a:p>
            <a:pPr marL="914400" lvl="2" indent="0" fontAlgn="base">
              <a:buNone/>
            </a:pPr>
            <a:r>
              <a:rPr lang="zh-TW" altLang="en-US" sz="1600" dirty="0"/>
              <a:t> </a:t>
            </a:r>
            <a:r>
              <a:rPr lang="zh-TW" altLang="en-US" sz="1600" dirty="0" smtClean="0"/>
              <a:t>   </a:t>
            </a:r>
            <a:r>
              <a:rPr lang="en-US" altLang="zh-TW" sz="1600" dirty="0" smtClean="0"/>
              <a:t>-</a:t>
            </a:r>
            <a:r>
              <a:rPr lang="zh-TW" altLang="en-US" sz="1600" dirty="0" smtClean="0"/>
              <a:t> </a:t>
            </a:r>
            <a:r>
              <a:rPr lang="en-US" altLang="zh-TW" sz="1600" dirty="0" smtClean="0"/>
              <a:t>uint32_t </a:t>
            </a:r>
            <a:r>
              <a:rPr lang="en-US" altLang="zh-TW" sz="1600" dirty="0"/>
              <a:t>/ int32_t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519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實做</a:t>
            </a:r>
            <a:r>
              <a:rPr lang="en-US" altLang="zh-TW" b="1" dirty="0" smtClean="0"/>
              <a:t>(3/4)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92925" y="1905000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zh-TW" altLang="en-US" sz="2000" b="1" dirty="0"/>
              <a:t>巨集</a:t>
            </a:r>
          </a:p>
          <a:p>
            <a:pPr marL="457200" lvl="1" indent="0" fontAlgn="base">
              <a:buNone/>
            </a:pPr>
            <a:r>
              <a:rPr lang="zh-TW" altLang="en-US" dirty="0"/>
              <a:t>以 </a:t>
            </a:r>
            <a:r>
              <a:rPr lang="en-US" altLang="zh-TW" dirty="0"/>
              <a:t>do...while(0) </a:t>
            </a:r>
            <a:r>
              <a:rPr lang="zh-TW" altLang="en-US" dirty="0"/>
              <a:t>包著整個巨集</a:t>
            </a:r>
          </a:p>
          <a:p>
            <a:pPr lvl="2" fontAlgn="base">
              <a:buFont typeface="Wingdings" panose="05000000000000000000" pitchFamily="2" charset="2"/>
              <a:buChar char="Ø"/>
            </a:pPr>
            <a:r>
              <a:rPr lang="zh-TW" altLang="en-US" sz="1600" dirty="0" smtClean="0"/>
              <a:t>使用時機</a:t>
            </a:r>
          </a:p>
          <a:p>
            <a:pPr lvl="3" fontAlgn="base">
              <a:buFont typeface="Wingdings" panose="05000000000000000000" pitchFamily="2" charset="2"/>
              <a:buChar char="ü"/>
            </a:pPr>
            <a:r>
              <a:rPr lang="zh-TW" altLang="en-US" sz="1600" dirty="0" smtClean="0"/>
              <a:t>巨集</a:t>
            </a:r>
            <a:r>
              <a:rPr lang="zh-TW" altLang="en-US" sz="1600" dirty="0"/>
              <a:t>裡使用 </a:t>
            </a:r>
            <a:r>
              <a:rPr lang="en-US" altLang="zh-TW" sz="1600" dirty="0"/>
              <a:t>if / for / while </a:t>
            </a:r>
            <a:r>
              <a:rPr lang="zh-TW" altLang="en-US" sz="1600" dirty="0" smtClean="0"/>
              <a:t>時</a:t>
            </a:r>
          </a:p>
          <a:p>
            <a:pPr lvl="3" fontAlgn="base">
              <a:buFont typeface="Wingdings" panose="05000000000000000000" pitchFamily="2" charset="2"/>
              <a:buChar char="ü"/>
            </a:pPr>
            <a:r>
              <a:rPr lang="zh-TW" altLang="en-US" sz="1600" dirty="0" smtClean="0"/>
              <a:t>巨集裡有多個敘述時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1012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實做</a:t>
            </a:r>
            <a:r>
              <a:rPr lang="en-US" altLang="zh-TW" b="1" dirty="0" smtClean="0"/>
              <a:t>(4/4)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92925" y="1905000"/>
            <a:ext cx="8309448" cy="2587211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altLang="zh-TW" sz="2000" b="1" dirty="0"/>
              <a:t>Log</a:t>
            </a:r>
          </a:p>
          <a:p>
            <a:pPr marL="457200" lvl="1" indent="0" fontAlgn="base">
              <a:buNone/>
            </a:pPr>
            <a:r>
              <a:rPr lang="zh-TW" altLang="en-US" dirty="0"/>
              <a:t>訊息必須令讀者容易了解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難以理解的訊息</a:t>
            </a:r>
            <a:r>
              <a:rPr lang="zh-TW" altLang="en-US" sz="1600" dirty="0" smtClean="0"/>
              <a:t>：</a:t>
            </a:r>
            <a:endParaRPr lang="en-US" altLang="zh-TW" sz="1600" dirty="0" smtClean="0"/>
          </a:p>
          <a:p>
            <a:pPr marL="914400" lvl="2" indent="0" fontAlgn="base">
              <a:buNone/>
            </a:pPr>
            <a:r>
              <a:rPr lang="en-US" altLang="zh-TW" sz="1600" dirty="0" smtClean="0"/>
              <a:t>          IRQ </a:t>
            </a:r>
            <a:r>
              <a:rPr lang="en-US" altLang="zh-TW" sz="1600" dirty="0"/>
              <a:t>status changes from 1 to 2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容易理解的訊息</a:t>
            </a:r>
            <a:r>
              <a:rPr lang="zh-TW" altLang="en-US" sz="1600" dirty="0" smtClean="0"/>
              <a:t>：</a:t>
            </a:r>
            <a:endParaRPr lang="en-US" altLang="zh-TW" sz="1600" dirty="0" smtClean="0"/>
          </a:p>
          <a:p>
            <a:pPr marL="914400" lvl="2" indent="0" fontAlgn="base">
              <a:buNone/>
            </a:pPr>
            <a:r>
              <a:rPr lang="en-US" altLang="zh-TW" sz="1600" dirty="0"/>
              <a:t> </a:t>
            </a:r>
            <a:r>
              <a:rPr lang="en-US" altLang="zh-TW" sz="1600" dirty="0" smtClean="0"/>
              <a:t>      GPIO </a:t>
            </a:r>
            <a:r>
              <a:rPr lang="en-US" altLang="zh-TW" sz="1600" dirty="0"/>
              <a:t>IRQ subsystem is ready, no more registration is </a:t>
            </a:r>
            <a:r>
              <a:rPr lang="en-US" altLang="zh-TW" sz="1600" dirty="0" smtClean="0"/>
              <a:t> </a:t>
            </a:r>
          </a:p>
          <a:p>
            <a:pPr marL="914400" lvl="2" indent="0" fontAlgn="base">
              <a:buNone/>
            </a:pPr>
            <a:r>
              <a:rPr lang="en-US" altLang="zh-TW" sz="1600" dirty="0"/>
              <a:t> </a:t>
            </a:r>
            <a:r>
              <a:rPr lang="en-US" altLang="zh-TW" sz="1600" dirty="0" smtClean="0"/>
              <a:t>      possible </a:t>
            </a:r>
            <a:r>
              <a:rPr lang="en-US" altLang="zh-TW" sz="1600" dirty="0"/>
              <a:t>from now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518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程式風格</a:t>
            </a:r>
            <a:r>
              <a:rPr lang="en-US" altLang="zh-TW" b="1" dirty="0" smtClean="0"/>
              <a:t>(1/4)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zh-TW" altLang="en-US" sz="1600" dirty="0"/>
              <a:t>請勿於檔頭填寫檔案資訊，像是做作者、撰寫日期等等的。這些資訊可以從</a:t>
            </a:r>
            <a:r>
              <a:rPr lang="en-US" altLang="zh-TW" sz="1600" dirty="0" err="1"/>
              <a:t>Git</a:t>
            </a:r>
            <a:r>
              <a:rPr lang="zh-TW" altLang="en-US" sz="1600" dirty="0"/>
              <a:t>取得，我們不必多花額外的人力去維護它。</a:t>
            </a:r>
          </a:p>
          <a:p>
            <a:pPr fontAlgn="base"/>
            <a:r>
              <a:rPr lang="zh-TW" altLang="en-US" sz="1600" dirty="0"/>
              <a:t>切勿包含 </a:t>
            </a:r>
            <a:r>
              <a:rPr lang="en-US" altLang="zh-TW" sz="1600" dirty="0"/>
              <a:t>#if 0</a:t>
            </a:r>
          </a:p>
          <a:p>
            <a:pPr fontAlgn="base"/>
            <a:r>
              <a:rPr lang="zh-TW" altLang="en-US" sz="1600" dirty="0"/>
              <a:t>標頭檔開頭的守護者，使用「檔名全大寫，句點代之以底線」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/>
              <a:t>範例：檔名</a:t>
            </a:r>
            <a:r>
              <a:rPr lang="en-US" altLang="zh-TW" dirty="0" err="1"/>
              <a:t>foxconn.h</a:t>
            </a:r>
            <a:r>
              <a:rPr lang="zh-TW" altLang="en-US" dirty="0"/>
              <a:t>的守護者</a:t>
            </a:r>
          </a:p>
          <a:p>
            <a:pPr marL="914400" lvl="2" indent="0" fontAlgn="base">
              <a:buNone/>
            </a:pPr>
            <a:r>
              <a:rPr lang="en-US" altLang="zh-TW" sz="1600" dirty="0"/>
              <a:t>#</a:t>
            </a:r>
            <a:r>
              <a:rPr lang="en-US" altLang="zh-TW" sz="1600" dirty="0" err="1"/>
              <a:t>ifndef</a:t>
            </a:r>
            <a:r>
              <a:rPr lang="en-US" altLang="zh-TW" sz="1600" dirty="0"/>
              <a:t> FOXCONN_H</a:t>
            </a:r>
          </a:p>
          <a:p>
            <a:pPr marL="914400" lvl="2" indent="0" fontAlgn="base">
              <a:buNone/>
            </a:pPr>
            <a:r>
              <a:rPr lang="en-US" altLang="zh-TW" sz="1600" dirty="0"/>
              <a:t>#define FOXCONN_H</a:t>
            </a:r>
          </a:p>
          <a:p>
            <a:pPr marL="914400" lvl="2" indent="0" fontAlgn="base">
              <a:buNone/>
            </a:pPr>
            <a:r>
              <a:rPr lang="en-US" altLang="zh-TW" sz="1600" dirty="0"/>
              <a:t>#</a:t>
            </a:r>
            <a:r>
              <a:rPr lang="en-US" altLang="zh-TW" sz="1600" dirty="0" err="1" smtClean="0"/>
              <a:t>endif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0635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程式風格</a:t>
            </a:r>
            <a:r>
              <a:rPr lang="en-US" altLang="zh-TW" b="1" dirty="0" smtClean="0"/>
              <a:t>(2/4)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zh-TW" altLang="en-US" sz="2000" b="1" dirty="0"/>
              <a:t>函數名不應使用縮寫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/>
              <a:t>範例：一個處理電源鈕事件的</a:t>
            </a:r>
            <a:r>
              <a:rPr lang="en-US" altLang="zh-TW" dirty="0"/>
              <a:t>Callback</a:t>
            </a:r>
            <a:r>
              <a:rPr lang="zh-TW" altLang="en-US" dirty="0"/>
              <a:t>函數</a:t>
            </a:r>
          </a:p>
          <a:p>
            <a:pPr lvl="2" fontAlgn="base"/>
            <a:r>
              <a:rPr lang="zh-TW" altLang="en-US" sz="1600" dirty="0"/>
              <a:t>不適合的名字：</a:t>
            </a:r>
            <a:r>
              <a:rPr lang="en-US" altLang="zh-TW" sz="1600" dirty="0" err="1"/>
              <a:t>RstPwrBtnISR</a:t>
            </a:r>
            <a:endParaRPr lang="en-US" altLang="zh-TW" sz="1600" dirty="0"/>
          </a:p>
          <a:p>
            <a:pPr lvl="2" fontAlgn="base"/>
            <a:r>
              <a:rPr lang="zh-TW" altLang="en-US" sz="1600" dirty="0"/>
              <a:t>適合的名字：</a:t>
            </a:r>
            <a:r>
              <a:rPr lang="en-US" altLang="zh-TW" sz="1600" dirty="0" err="1" smtClean="0"/>
              <a:t>OnResetPowerBotton</a:t>
            </a:r>
            <a:endParaRPr lang="en-US" altLang="zh-TW" sz="1600" dirty="0" smtClean="0"/>
          </a:p>
          <a:p>
            <a:pPr fontAlgn="base"/>
            <a:r>
              <a:rPr lang="zh-TW" altLang="en-US" sz="2000" b="1" dirty="0" smtClean="0"/>
              <a:t>函數</a:t>
            </a:r>
            <a:r>
              <a:rPr lang="zh-TW" altLang="en-US" sz="2000" b="1" dirty="0"/>
              <a:t>名不應使用縮寫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/>
              <a:t>範例：一個處理電源鈕事件的</a:t>
            </a:r>
            <a:r>
              <a:rPr lang="en-US" altLang="zh-TW" dirty="0"/>
              <a:t>Callback</a:t>
            </a:r>
            <a:r>
              <a:rPr lang="zh-TW" altLang="en-US" dirty="0"/>
              <a:t>函數</a:t>
            </a:r>
          </a:p>
          <a:p>
            <a:pPr lvl="2" fontAlgn="base"/>
            <a:r>
              <a:rPr lang="zh-TW" altLang="en-US" sz="1600" dirty="0"/>
              <a:t>不適合的名字：</a:t>
            </a:r>
            <a:r>
              <a:rPr lang="en-US" altLang="zh-TW" sz="1600" dirty="0" err="1"/>
              <a:t>RstPwrBtnISR</a:t>
            </a:r>
            <a:endParaRPr lang="en-US" altLang="zh-TW" sz="1600" dirty="0"/>
          </a:p>
          <a:p>
            <a:pPr lvl="2" fontAlgn="base"/>
            <a:r>
              <a:rPr lang="zh-TW" altLang="en-US" sz="1600" dirty="0"/>
              <a:t>適合的名字：</a:t>
            </a:r>
            <a:r>
              <a:rPr lang="en-US" altLang="zh-TW" sz="1600" dirty="0" err="1"/>
              <a:t>OnResetPowerBotton</a:t>
            </a:r>
            <a:endParaRPr lang="en-US" altLang="zh-TW" sz="1600" dirty="0"/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2404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程式風格</a:t>
            </a:r>
            <a:r>
              <a:rPr lang="en-US" altLang="zh-TW" b="1" dirty="0" smtClean="0"/>
              <a:t>(3/4)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zh-TW" altLang="en-US" sz="2000" b="1" dirty="0"/>
              <a:t>全域變數命名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zh-TW" altLang="en-US" dirty="0"/>
              <a:t>跨越源檔的全域變數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必須前綴</a:t>
            </a:r>
            <a:r>
              <a:rPr lang="en-US" altLang="zh-TW" sz="1600" dirty="0"/>
              <a:t>g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字首大寫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範例：</a:t>
            </a:r>
            <a:r>
              <a:rPr lang="en-US" altLang="zh-TW" sz="1600" dirty="0" err="1"/>
              <a:t>gCrossFileGlobalVariable</a:t>
            </a:r>
            <a:endParaRPr lang="en-US" altLang="zh-TW" sz="1600" dirty="0"/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zh-TW" altLang="en-US" dirty="0"/>
              <a:t>單檔範圍的全域變數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字首大寫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範例：</a:t>
            </a:r>
            <a:r>
              <a:rPr lang="en-US" altLang="zh-TW" sz="1600" dirty="0" err="1"/>
              <a:t>SingleFileGlobalVariable</a:t>
            </a:r>
            <a:endParaRPr lang="en-US" altLang="zh-TW" sz="1600" dirty="0"/>
          </a:p>
          <a:p>
            <a:pPr fontAlgn="base"/>
            <a:r>
              <a:rPr lang="en-US" altLang="zh-TW" sz="2000" b="1" dirty="0" err="1"/>
              <a:t>Makefile</a:t>
            </a:r>
            <a:r>
              <a:rPr lang="zh-TW" altLang="en-US" sz="2000" b="1" dirty="0"/>
              <a:t>裡的變數須以</a:t>
            </a:r>
            <a:r>
              <a:rPr lang="en-US" altLang="zh-TW" sz="2000" b="1" dirty="0"/>
              <a:t>alphabetically</a:t>
            </a:r>
            <a:r>
              <a:rPr lang="zh-TW" altLang="en-US" sz="2000" b="1" dirty="0"/>
              <a:t>排序</a:t>
            </a:r>
          </a:p>
          <a:p>
            <a:pPr fontAlgn="base"/>
            <a:r>
              <a:rPr lang="zh-TW" altLang="en-US" sz="2000" b="1" dirty="0"/>
              <a:t>使用</a:t>
            </a:r>
            <a:r>
              <a:rPr lang="en-US" altLang="zh-TW" sz="2000" b="1" dirty="0"/>
              <a:t>Linux</a:t>
            </a:r>
            <a:r>
              <a:rPr lang="zh-TW" altLang="en-US" sz="2000" b="1" dirty="0"/>
              <a:t>風格的換行字元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9819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程式風格</a:t>
            </a:r>
            <a:r>
              <a:rPr lang="en-US" altLang="zh-TW" b="1" dirty="0" smtClean="0"/>
              <a:t>(4/4)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358553" y="2166552"/>
            <a:ext cx="5286161" cy="3777622"/>
          </a:xfrm>
        </p:spPr>
        <p:txBody>
          <a:bodyPr>
            <a:normAutofit fontScale="25000" lnSpcReduction="20000"/>
          </a:bodyPr>
          <a:lstStyle/>
          <a:p>
            <a:pPr fontAlgn="base"/>
            <a:r>
              <a:rPr lang="en-US" altLang="zh-TW" sz="8000" b="1" dirty="0" err="1" smtClean="0"/>
              <a:t>libfoxconn</a:t>
            </a:r>
            <a:r>
              <a:rPr lang="en-US" altLang="zh-TW" sz="8000" b="1" dirty="0" smtClean="0"/>
              <a:t> </a:t>
            </a:r>
            <a:r>
              <a:rPr lang="zh-TW" altLang="en-US" sz="8000" b="1" dirty="0"/>
              <a:t>命名前綴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zh-TW" altLang="en-US" sz="6200" dirty="0"/>
              <a:t>定義型態或常數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6200" dirty="0"/>
              <a:t>必須前綴</a:t>
            </a:r>
            <a:r>
              <a:rPr lang="en-US" altLang="zh-TW" sz="6200" dirty="0"/>
              <a:t>FXN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6200" dirty="0"/>
              <a:t>後接”</a:t>
            </a:r>
            <a:r>
              <a:rPr lang="en-US" altLang="zh-TW" sz="6200" dirty="0"/>
              <a:t>_”</a:t>
            </a:r>
            <a:r>
              <a:rPr lang="zh-TW" altLang="en-US" sz="6200" dirty="0"/>
              <a:t>及類別，再以”</a:t>
            </a:r>
            <a:r>
              <a:rPr lang="en-US" altLang="zh-TW" sz="6200" dirty="0"/>
              <a:t>_”</a:t>
            </a:r>
            <a:r>
              <a:rPr lang="zh-TW" altLang="en-US" sz="6200" dirty="0"/>
              <a:t>區隔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6200" dirty="0"/>
              <a:t>範例： </a:t>
            </a:r>
            <a:r>
              <a:rPr lang="en-US" altLang="zh-TW" sz="6200" dirty="0"/>
              <a:t>#define FXN_GPIO_HIGH   1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altLang="zh-TW" sz="6200" dirty="0" err="1" smtClean="0"/>
              <a:t>libfoxconn</a:t>
            </a:r>
            <a:r>
              <a:rPr lang="en-US" altLang="zh-TW" sz="6200" dirty="0" smtClean="0"/>
              <a:t> </a:t>
            </a:r>
            <a:r>
              <a:rPr lang="zh-TW" altLang="en-US" sz="6200" dirty="0"/>
              <a:t>內部使用到的函數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6200" dirty="0"/>
              <a:t>必須前綴</a:t>
            </a:r>
            <a:r>
              <a:rPr lang="en-US" altLang="zh-TW" sz="6200" dirty="0" err="1"/>
              <a:t>Fxn</a:t>
            </a:r>
            <a:endParaRPr lang="en-US" altLang="zh-TW" sz="6200" dirty="0"/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6200" dirty="0"/>
              <a:t>後接類別，首字大寫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6200" dirty="0"/>
              <a:t>範例： </a:t>
            </a:r>
            <a:r>
              <a:rPr lang="en-US" altLang="zh-TW" sz="6200" dirty="0" err="1"/>
              <a:t>int</a:t>
            </a:r>
            <a:r>
              <a:rPr lang="en-US" altLang="zh-TW" sz="6200" dirty="0"/>
              <a:t> </a:t>
            </a:r>
            <a:r>
              <a:rPr lang="en-US" altLang="zh-TW" sz="6200" dirty="0" err="1"/>
              <a:t>FxnPowerControl</a:t>
            </a:r>
            <a:r>
              <a:rPr lang="en-US" altLang="zh-TW" sz="6200" dirty="0"/>
              <a:t>(</a:t>
            </a:r>
            <a:r>
              <a:rPr lang="en-US" altLang="zh-TW" sz="6200" dirty="0" err="1"/>
              <a:t>int</a:t>
            </a:r>
            <a:r>
              <a:rPr lang="en-US" altLang="zh-TW" sz="6200" dirty="0"/>
              <a:t> </a:t>
            </a:r>
            <a:r>
              <a:rPr lang="en-US" altLang="zh-TW" sz="6200" dirty="0" err="1"/>
              <a:t>actionID</a:t>
            </a:r>
            <a:r>
              <a:rPr lang="en-US" altLang="zh-TW" sz="6200" dirty="0"/>
              <a:t>);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zh-TW" altLang="en-US" sz="6200" dirty="0"/>
              <a:t>銜接 </a:t>
            </a:r>
            <a:r>
              <a:rPr lang="en-US" altLang="zh-TW" sz="6200" dirty="0"/>
              <a:t>AMI </a:t>
            </a:r>
            <a:r>
              <a:rPr lang="zh-TW" altLang="en-US" sz="6200" dirty="0"/>
              <a:t>的進入點函數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6200" dirty="0"/>
              <a:t>必須前綴</a:t>
            </a:r>
            <a:r>
              <a:rPr lang="en-US" altLang="zh-TW" sz="6200" dirty="0" err="1"/>
              <a:t>Fxn</a:t>
            </a:r>
            <a:endParaRPr lang="en-US" altLang="zh-TW" sz="6200" dirty="0"/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6200" dirty="0"/>
              <a:t>後接類別，首字大寫，以”</a:t>
            </a:r>
            <a:r>
              <a:rPr lang="en-US" altLang="zh-TW" sz="6200" dirty="0"/>
              <a:t>_”</a:t>
            </a:r>
            <a:r>
              <a:rPr lang="zh-TW" altLang="en-US" sz="6200" dirty="0"/>
              <a:t>區隔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6200" dirty="0"/>
              <a:t>範例： </a:t>
            </a:r>
            <a:r>
              <a:rPr lang="en-US" altLang="zh-TW" sz="6200" dirty="0"/>
              <a:t>void </a:t>
            </a:r>
            <a:r>
              <a:rPr lang="en-US" altLang="zh-TW" sz="6200" dirty="0" err="1"/>
              <a:t>FxnGPIO_ConfigISR</a:t>
            </a:r>
            <a:r>
              <a:rPr lang="en-US" altLang="zh-TW" sz="6200" dirty="0"/>
              <a:t>();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6662824" y="2413687"/>
            <a:ext cx="5286161" cy="1532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base">
              <a:buFont typeface="Wingdings" panose="05000000000000000000" pitchFamily="2" charset="2"/>
              <a:buChar char="Ø"/>
            </a:pPr>
            <a:r>
              <a:rPr lang="zh-TW" altLang="en-US" dirty="0" smtClean="0"/>
              <a:t>銜接 </a:t>
            </a:r>
            <a:r>
              <a:rPr lang="en-US" altLang="zh-TW" dirty="0" smtClean="0"/>
              <a:t>AMI </a:t>
            </a:r>
            <a:r>
              <a:rPr lang="zh-TW" altLang="en-US" dirty="0" smtClean="0"/>
              <a:t>的進入點函數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 smtClean="0"/>
              <a:t>必須前綴</a:t>
            </a:r>
            <a:r>
              <a:rPr lang="en-US" altLang="zh-TW" sz="1600" dirty="0" err="1" smtClean="0"/>
              <a:t>Fxn</a:t>
            </a:r>
            <a:endParaRPr lang="en-US" altLang="zh-TW" sz="1600" dirty="0" smtClean="0"/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 smtClean="0"/>
              <a:t>後接類別，首字大寫，以”</a:t>
            </a:r>
            <a:r>
              <a:rPr lang="en-US" altLang="zh-TW" sz="1600" dirty="0" smtClean="0"/>
              <a:t>_”</a:t>
            </a:r>
            <a:r>
              <a:rPr lang="zh-TW" altLang="en-US" sz="1600" dirty="0" smtClean="0"/>
              <a:t>區隔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 smtClean="0"/>
              <a:t>範例： </a:t>
            </a:r>
            <a:r>
              <a:rPr lang="en-US" altLang="zh-TW" sz="1600" dirty="0" smtClean="0"/>
              <a:t>void </a:t>
            </a:r>
            <a:r>
              <a:rPr lang="en-US" altLang="zh-TW" sz="1600" dirty="0" err="1" smtClean="0"/>
              <a:t>FxnGPIO_ConfigISR</a:t>
            </a:r>
            <a:r>
              <a:rPr lang="en-US" altLang="zh-TW" sz="1600" dirty="0" smtClean="0"/>
              <a:t>();</a:t>
            </a:r>
          </a:p>
          <a:p>
            <a:endParaRPr lang="zh-TW" altLang="en-US" sz="1600" dirty="0" smtClean="0"/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7387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Commit Message naming(1/3)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zh-TW" altLang="en-US" sz="1600" dirty="0" smtClean="0"/>
              <a:t>一個</a:t>
            </a:r>
            <a:r>
              <a:rPr lang="en-US" altLang="zh-TW" sz="1600" dirty="0"/>
              <a:t>Commit</a:t>
            </a:r>
            <a:r>
              <a:rPr lang="zh-TW" altLang="en-US" sz="1600" dirty="0"/>
              <a:t>指實做一個功能、或是只修正一個問題</a:t>
            </a:r>
          </a:p>
          <a:p>
            <a:pPr fontAlgn="base"/>
            <a:r>
              <a:rPr lang="zh-TW" altLang="en-US" sz="1600" dirty="0"/>
              <a:t>首行格式：範圍</a:t>
            </a:r>
            <a:r>
              <a:rPr lang="en-US" altLang="zh-TW" sz="1600" dirty="0"/>
              <a:t>:</a:t>
            </a:r>
            <a:r>
              <a:rPr lang="zh-TW" altLang="en-US" sz="1600" dirty="0"/>
              <a:t>類別</a:t>
            </a:r>
            <a:r>
              <a:rPr lang="en-US" altLang="zh-TW" sz="1600" dirty="0"/>
              <a:t>: </a:t>
            </a:r>
            <a:r>
              <a:rPr lang="zh-TW" altLang="en-US" sz="1600" dirty="0"/>
              <a:t>簡短敘述</a:t>
            </a:r>
          </a:p>
          <a:p>
            <a:pPr fontAlgn="base"/>
            <a:r>
              <a:rPr lang="zh-TW" altLang="en-US" sz="1600" dirty="0"/>
              <a:t>範圍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altLang="zh-TW" dirty="0"/>
              <a:t>Core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altLang="zh-TW" dirty="0"/>
              <a:t>P(</a:t>
            </a:r>
            <a:r>
              <a:rPr lang="zh-TW" altLang="en-US" dirty="0"/>
              <a:t>平台名</a:t>
            </a:r>
            <a:r>
              <a:rPr lang="en-US" altLang="zh-TW" dirty="0"/>
              <a:t>)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en-US" altLang="zh-TW" dirty="0"/>
              <a:t>F(</a:t>
            </a:r>
            <a:r>
              <a:rPr lang="zh-TW" altLang="en-US" dirty="0"/>
              <a:t>功能集</a:t>
            </a:r>
            <a:r>
              <a:rPr lang="en-US" altLang="zh-TW" dirty="0"/>
              <a:t>)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1966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Commit Message </a:t>
            </a:r>
            <a:r>
              <a:rPr lang="en-US" altLang="zh-TW" b="1" dirty="0" smtClean="0"/>
              <a:t>naming(2/3</a:t>
            </a:r>
            <a:r>
              <a:rPr lang="en-US" altLang="zh-TW" b="1" dirty="0"/>
              <a:t>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204519"/>
          </a:xfrm>
        </p:spPr>
        <p:txBody>
          <a:bodyPr>
            <a:normAutofit/>
          </a:bodyPr>
          <a:lstStyle/>
          <a:p>
            <a:pPr fontAlgn="base"/>
            <a:r>
              <a:rPr lang="zh-TW" altLang="en-US" sz="2000" b="1" dirty="0"/>
              <a:t>類別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altLang="zh-TW" dirty="0"/>
              <a:t>feat - </a:t>
            </a:r>
            <a:r>
              <a:rPr lang="zh-TW" altLang="en-US" dirty="0"/>
              <a:t>新功能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altLang="zh-TW" dirty="0"/>
              <a:t>fix - </a:t>
            </a:r>
            <a:r>
              <a:rPr lang="zh-TW" altLang="en-US" dirty="0"/>
              <a:t>修正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altLang="zh-TW" dirty="0"/>
              <a:t>refactor - </a:t>
            </a:r>
            <a:r>
              <a:rPr lang="zh-TW" altLang="en-US" dirty="0"/>
              <a:t>重構程式碼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altLang="zh-TW" dirty="0"/>
              <a:t>chore - </a:t>
            </a:r>
            <a:r>
              <a:rPr lang="zh-TW" altLang="en-US" dirty="0"/>
              <a:t>不影響最後產出的映像檔功能的改動，例如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編譯系統的程式碼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組態系統的程式碼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/>
              <a:t>版號</a:t>
            </a:r>
          </a:p>
          <a:p>
            <a:pPr fontAlgn="base"/>
            <a:endParaRPr lang="en-US" altLang="zh-TW" sz="1600" dirty="0" smtClean="0"/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4830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Commit Message </a:t>
            </a:r>
            <a:r>
              <a:rPr lang="en-US" altLang="zh-TW" b="1" dirty="0" smtClean="0"/>
              <a:t>naming(3/3)</a:t>
            </a:r>
            <a:endParaRPr lang="zh-TW" altLang="en-US" b="1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2317364" y="2207741"/>
            <a:ext cx="8915400" cy="152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base">
              <a:buFont typeface="Wingdings" panose="05000000000000000000" pitchFamily="2" charset="2"/>
              <a:buChar char="Ø"/>
            </a:pPr>
            <a:r>
              <a:rPr lang="en-US" altLang="zh-TW" dirty="0" smtClean="0"/>
              <a:t>docs - </a:t>
            </a:r>
            <a:r>
              <a:rPr lang="zh-TW" altLang="en-US" dirty="0" smtClean="0"/>
              <a:t>任何針對文件的改動（程式碼註解不屬此類別）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altLang="zh-TW" dirty="0" smtClean="0"/>
              <a:t>style - </a:t>
            </a:r>
            <a:r>
              <a:rPr lang="zh-TW" altLang="en-US" dirty="0" smtClean="0"/>
              <a:t>改變或改善源碼風格，例如</a:t>
            </a:r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 smtClean="0"/>
              <a:t>以空白取代</a:t>
            </a:r>
            <a:r>
              <a:rPr lang="en-US" altLang="zh-TW" sz="1600" dirty="0" smtClean="0"/>
              <a:t>Tab</a:t>
            </a:r>
            <a:r>
              <a:rPr lang="zh-TW" altLang="en-US" sz="1600" dirty="0" smtClean="0"/>
              <a:t>作為排版手段</a:t>
            </a:r>
            <a:endParaRPr lang="en-US" altLang="zh-TW" sz="1600" dirty="0" smtClean="0"/>
          </a:p>
          <a:p>
            <a:pPr lvl="2" fontAlgn="base">
              <a:buFont typeface="Wingdings" panose="05000000000000000000" pitchFamily="2" charset="2"/>
              <a:buChar char="ü"/>
            </a:pPr>
            <a:r>
              <a:rPr lang="zh-TW" altLang="en-US" sz="1600" dirty="0" smtClean="0"/>
              <a:t>刪除不必要的行尾空白或是空白行</a:t>
            </a:r>
          </a:p>
          <a:p>
            <a:pPr fontAlgn="base"/>
            <a:endParaRPr lang="en-US" altLang="zh-TW" sz="1600" dirty="0" smtClean="0"/>
          </a:p>
          <a:p>
            <a:endParaRPr lang="zh-TW" altLang="en-US" sz="1600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2317364" y="3731741"/>
            <a:ext cx="8915400" cy="3777622"/>
          </a:xfrm>
        </p:spPr>
        <p:txBody>
          <a:bodyPr>
            <a:normAutofit/>
          </a:bodyPr>
          <a:lstStyle/>
          <a:p>
            <a:pPr fontAlgn="base"/>
            <a:r>
              <a:rPr lang="zh-TW" altLang="en-US" sz="2000" b="1" dirty="0"/>
              <a:t>簡短敘述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/>
              <a:t>除非是專有名詞，其他請全數使用小寫。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/>
              <a:t>如果有</a:t>
            </a:r>
            <a:r>
              <a:rPr lang="en-US" altLang="zh-TW" dirty="0"/>
              <a:t>QIS</a:t>
            </a:r>
            <a:r>
              <a:rPr lang="zh-TW" altLang="en-US" dirty="0"/>
              <a:t>編號，貼上該編號，並以</a:t>
            </a:r>
            <a:r>
              <a:rPr lang="en-US" altLang="zh-TW" dirty="0"/>
              <a:t>QIS</a:t>
            </a:r>
            <a:r>
              <a:rPr lang="zh-TW" altLang="en-US" dirty="0"/>
              <a:t>標題作為敘述</a:t>
            </a:r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zh-TW" altLang="en-US" dirty="0"/>
              <a:t>若為</a:t>
            </a:r>
            <a:r>
              <a:rPr lang="en-US" altLang="zh-TW" dirty="0"/>
              <a:t>fix</a:t>
            </a:r>
            <a:r>
              <a:rPr lang="zh-TW" altLang="en-US" dirty="0"/>
              <a:t>類別，敘述錯誤的行為</a:t>
            </a:r>
          </a:p>
          <a:p>
            <a:pPr marL="914400" lvl="2" indent="0" fontAlgn="base">
              <a:buNone/>
            </a:pPr>
            <a:r>
              <a:rPr lang="zh-TW" altLang="en-US" sz="1600" dirty="0"/>
              <a:t>例如：</a:t>
            </a:r>
            <a:r>
              <a:rPr lang="en-US" altLang="zh-TW" sz="1600" dirty="0" err="1"/>
              <a:t>Core:fix</a:t>
            </a:r>
            <a:r>
              <a:rPr lang="en-US" altLang="zh-TW" sz="1600" dirty="0"/>
              <a:t>: array subscript out of bound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0647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Code Review </a:t>
            </a:r>
            <a:r>
              <a:rPr lang="zh-TW" altLang="en-US" b="1" dirty="0"/>
              <a:t>專案實例</a:t>
            </a:r>
            <a:r>
              <a:rPr lang="en-US" altLang="zh-TW" b="1" dirty="0"/>
              <a:t> – </a:t>
            </a:r>
            <a:r>
              <a:rPr lang="en-US" altLang="zh-TW" b="1" dirty="0" smtClean="0"/>
              <a:t>Amazon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 smtClean="0"/>
              <a:t>Foxconn</a:t>
            </a:r>
            <a:r>
              <a:rPr lang="zh-TW" altLang="en-US" sz="2400" b="1" dirty="0" smtClean="0"/>
              <a:t>對於三層架構自訂義一套新</a:t>
            </a:r>
            <a:r>
              <a:rPr lang="zh-TW" altLang="en-US" sz="2400" b="1" dirty="0"/>
              <a:t>的</a:t>
            </a:r>
            <a:r>
              <a:rPr lang="zh-TW" altLang="en-US" sz="2400" b="1" dirty="0" smtClean="0"/>
              <a:t>開發</a:t>
            </a:r>
            <a:r>
              <a:rPr lang="en-US" altLang="zh-TW" sz="2400" b="1" dirty="0" smtClean="0"/>
              <a:t>workflow</a:t>
            </a:r>
          </a:p>
          <a:p>
            <a:r>
              <a:rPr lang="zh-TW" altLang="en-US" sz="2400" b="1" dirty="0" smtClean="0"/>
              <a:t>針對一個完成的</a:t>
            </a:r>
            <a:r>
              <a:rPr lang="en-US" altLang="zh-TW" sz="2400" b="1" dirty="0"/>
              <a:t>Feature</a:t>
            </a:r>
            <a:r>
              <a:rPr lang="zh-TW" altLang="en-US" sz="2400" b="1" dirty="0" smtClean="0"/>
              <a:t>進行</a:t>
            </a:r>
            <a:r>
              <a:rPr lang="en-US" altLang="zh-TW" sz="2400" b="1" dirty="0" smtClean="0"/>
              <a:t>code</a:t>
            </a:r>
            <a:r>
              <a:rPr lang="zh-TW" altLang="en-US" sz="2400" b="1" dirty="0" smtClean="0"/>
              <a:t> </a:t>
            </a:r>
            <a:r>
              <a:rPr lang="en-US" altLang="zh-TW" sz="2400" b="1" dirty="0" smtClean="0"/>
              <a:t>review</a:t>
            </a:r>
            <a:r>
              <a:rPr lang="zh-TW" altLang="en-US" sz="2400" b="1" dirty="0" smtClean="0"/>
              <a:t>，不再是單一</a:t>
            </a:r>
            <a:r>
              <a:rPr lang="en-US" altLang="zh-TW" sz="2400" b="1" dirty="0" smtClean="0"/>
              <a:t>IPMI</a:t>
            </a:r>
            <a:r>
              <a:rPr lang="zh-TW" altLang="en-US" sz="2400" b="1" dirty="0" smtClean="0"/>
              <a:t> </a:t>
            </a:r>
            <a:r>
              <a:rPr lang="en-US" altLang="zh-TW" sz="2400" b="1" dirty="0" smtClean="0"/>
              <a:t>command</a:t>
            </a:r>
          </a:p>
          <a:p>
            <a:r>
              <a:rPr lang="zh-TW" altLang="en-US" sz="2400" b="1" dirty="0"/>
              <a:t>組成</a:t>
            </a:r>
            <a:r>
              <a:rPr lang="en-US" altLang="zh-TW" sz="2400" b="1" dirty="0" smtClean="0"/>
              <a:t>Code review system</a:t>
            </a:r>
            <a:r>
              <a:rPr lang="zh-TW" altLang="en-US" sz="2400" b="1" dirty="0" smtClean="0"/>
              <a:t>三必要</a:t>
            </a:r>
            <a:r>
              <a:rPr lang="zh-TW" altLang="en-US" sz="2400" b="1" dirty="0" smtClean="0"/>
              <a:t>系統</a:t>
            </a:r>
            <a:endParaRPr lang="en-US" altLang="zh-TW" sz="2400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Git</a:t>
            </a:r>
            <a:r>
              <a:rPr lang="en-US" altLang="zh-TW" dirty="0" smtClean="0"/>
              <a:t> server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Build system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Reboard</a:t>
            </a:r>
            <a:r>
              <a:rPr lang="en-US" altLang="zh-TW" dirty="0" smtClean="0"/>
              <a:t> </a:t>
            </a:r>
            <a:r>
              <a:rPr lang="en-US" altLang="zh-TW" dirty="0" smtClean="0"/>
              <a:t>board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3636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Code Review – Amazon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Workflow</a:t>
            </a:r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2731319" y="3393680"/>
            <a:ext cx="1654187" cy="5066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構想與設計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4576596" y="3393677"/>
            <a:ext cx="1334790" cy="5066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文件化所設計的</a:t>
            </a:r>
            <a:r>
              <a:rPr lang="en-US" altLang="zh-TW" dirty="0" smtClean="0"/>
              <a:t>API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6421871" y="3393678"/>
            <a:ext cx="1654187" cy="5066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Design Review</a:t>
            </a:r>
            <a:endParaRPr lang="zh-TW" altLang="en-US" dirty="0"/>
          </a:p>
        </p:txBody>
      </p:sp>
      <p:sp>
        <p:nvSpPr>
          <p:cNvPr id="7" name="圓角矩形 6"/>
          <p:cNvSpPr/>
          <p:nvPr/>
        </p:nvSpPr>
        <p:spPr>
          <a:xfrm>
            <a:off x="8184769" y="4466332"/>
            <a:ext cx="1654187" cy="5066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開發實作</a:t>
            </a:r>
            <a:endParaRPr lang="zh-TW" altLang="en-US" dirty="0"/>
          </a:p>
        </p:txBody>
      </p:sp>
      <p:sp>
        <p:nvSpPr>
          <p:cNvPr id="8" name="圓角矩形 7"/>
          <p:cNvSpPr/>
          <p:nvPr/>
        </p:nvSpPr>
        <p:spPr>
          <a:xfrm>
            <a:off x="6327135" y="4472828"/>
            <a:ext cx="1654187" cy="5066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驗證功能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593069" y="4472828"/>
            <a:ext cx="1654189" cy="5066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Code Review </a:t>
            </a:r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2589211" y="4472828"/>
            <a:ext cx="1654189" cy="5066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提交實</a:t>
            </a:r>
            <a:r>
              <a:rPr lang="zh-TW" altLang="en-US" dirty="0"/>
              <a:t>作</a:t>
            </a:r>
          </a:p>
        </p:txBody>
      </p:sp>
      <p:cxnSp>
        <p:nvCxnSpPr>
          <p:cNvPr id="11" name="直線單箭頭接點 10"/>
          <p:cNvCxnSpPr>
            <a:stCxn id="4" idx="3"/>
            <a:endCxn id="5" idx="1"/>
          </p:cNvCxnSpPr>
          <p:nvPr/>
        </p:nvCxnSpPr>
        <p:spPr>
          <a:xfrm flipV="1">
            <a:off x="4385506" y="3646991"/>
            <a:ext cx="191090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5902888" y="3646982"/>
            <a:ext cx="647291" cy="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7" idx="1"/>
            <a:endCxn id="8" idx="3"/>
          </p:cNvCxnSpPr>
          <p:nvPr/>
        </p:nvCxnSpPr>
        <p:spPr>
          <a:xfrm flipH="1">
            <a:off x="7981322" y="4719646"/>
            <a:ext cx="203447" cy="6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6327137" y="4726141"/>
            <a:ext cx="43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9" idx="1"/>
            <a:endCxn id="10" idx="3"/>
          </p:cNvCxnSpPr>
          <p:nvPr/>
        </p:nvCxnSpPr>
        <p:spPr>
          <a:xfrm flipH="1">
            <a:off x="4243400" y="4726142"/>
            <a:ext cx="349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接點 15"/>
          <p:cNvCxnSpPr>
            <a:stCxn id="9" idx="2"/>
            <a:endCxn id="7" idx="2"/>
          </p:cNvCxnSpPr>
          <p:nvPr/>
        </p:nvCxnSpPr>
        <p:spPr>
          <a:xfrm rot="5400000" flipH="1" flipV="1">
            <a:off x="7212765" y="3180357"/>
            <a:ext cx="6496" cy="3591699"/>
          </a:xfrm>
          <a:prstGeom prst="bentConnector3">
            <a:avLst>
              <a:gd name="adj1" fmla="val -35190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接點 16"/>
          <p:cNvCxnSpPr>
            <a:stCxn id="6" idx="0"/>
            <a:endCxn id="4" idx="0"/>
          </p:cNvCxnSpPr>
          <p:nvPr/>
        </p:nvCxnSpPr>
        <p:spPr>
          <a:xfrm rot="16200000" flipH="1" flipV="1">
            <a:off x="5403688" y="1548403"/>
            <a:ext cx="2" cy="3690552"/>
          </a:xfrm>
          <a:prstGeom prst="bentConnector3">
            <a:avLst>
              <a:gd name="adj1" fmla="val -1143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接點 17"/>
          <p:cNvCxnSpPr>
            <a:stCxn id="6" idx="3"/>
            <a:endCxn id="7" idx="0"/>
          </p:cNvCxnSpPr>
          <p:nvPr/>
        </p:nvCxnSpPr>
        <p:spPr>
          <a:xfrm>
            <a:off x="8076058" y="3646992"/>
            <a:ext cx="935805" cy="8193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6465537" y="5160383"/>
            <a:ext cx="156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Feedback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8461473" y="3311488"/>
            <a:ext cx="1140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Accept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3852818" y="4910829"/>
            <a:ext cx="1140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Accept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829910" y="2887050"/>
            <a:ext cx="156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Feedback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855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Feature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依據不同的</a:t>
            </a:r>
            <a:r>
              <a:rPr lang="en-US" altLang="zh-TW" dirty="0" smtClean="0"/>
              <a:t>feature</a:t>
            </a:r>
            <a:r>
              <a:rPr lang="zh-TW" altLang="en-US" dirty="0" smtClean="0"/>
              <a:t>做</a:t>
            </a:r>
            <a:r>
              <a:rPr lang="en-US" altLang="zh-TW" dirty="0" smtClean="0"/>
              <a:t>code review</a:t>
            </a:r>
          </a:p>
          <a:p>
            <a:r>
              <a:rPr lang="zh-TW" altLang="en-US" dirty="0" smtClean="0"/>
              <a:t>把</a:t>
            </a:r>
            <a:r>
              <a:rPr lang="en-US" altLang="zh-TW" dirty="0" smtClean="0"/>
              <a:t>code</a:t>
            </a:r>
            <a:r>
              <a:rPr lang="zh-TW" altLang="en-US" dirty="0" smtClean="0"/>
              <a:t>提交到</a:t>
            </a:r>
            <a:r>
              <a:rPr lang="en-US" altLang="zh-TW" dirty="0" smtClean="0"/>
              <a:t>review board</a:t>
            </a:r>
            <a:r>
              <a:rPr lang="zh-TW" altLang="en-US" dirty="0" smtClean="0"/>
              <a:t>做</a:t>
            </a:r>
            <a:r>
              <a:rPr lang="en-US" altLang="zh-TW" dirty="0" smtClean="0"/>
              <a:t>code </a:t>
            </a:r>
          </a:p>
          <a:p>
            <a:pPr marL="0" indent="0">
              <a:buNone/>
            </a:pPr>
            <a:r>
              <a:rPr lang="en-US" altLang="zh-TW" dirty="0" smtClean="0"/>
              <a:t>   review</a:t>
            </a:r>
          </a:p>
          <a:p>
            <a:r>
              <a:rPr lang="zh-TW" altLang="en-US" dirty="0" smtClean="0"/>
              <a:t>每個人都可以參與</a:t>
            </a:r>
            <a:r>
              <a:rPr lang="en-US" altLang="zh-TW" dirty="0" smtClean="0"/>
              <a:t>code review</a:t>
            </a:r>
          </a:p>
          <a:p>
            <a:r>
              <a:rPr lang="zh-TW" altLang="en-US" dirty="0" smtClean="0"/>
              <a:t>依照</a:t>
            </a:r>
            <a:r>
              <a:rPr lang="en-US" altLang="zh-TW" dirty="0"/>
              <a:t>Code Review </a:t>
            </a:r>
            <a:r>
              <a:rPr lang="en-US" altLang="zh-TW" dirty="0" smtClean="0"/>
              <a:t>Guideline</a:t>
            </a:r>
            <a:r>
              <a:rPr lang="zh-TW" altLang="en-US" dirty="0" smtClean="0"/>
              <a:t>規則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  進行</a:t>
            </a:r>
            <a:r>
              <a:rPr lang="en-US" altLang="zh-TW" dirty="0" smtClean="0"/>
              <a:t>code review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71527" y="1253331"/>
            <a:ext cx="325755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6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 smtClean="0"/>
              <a:t>Git</a:t>
            </a:r>
            <a:r>
              <a:rPr lang="en-US" altLang="zh-TW" b="1" dirty="0" smtClean="0"/>
              <a:t> Server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以</a:t>
            </a:r>
            <a:r>
              <a:rPr lang="en-US" altLang="zh-TW" dirty="0" smtClean="0"/>
              <a:t>AMI-AST2500</a:t>
            </a:r>
            <a:r>
              <a:rPr lang="zh-TW" altLang="en-US" dirty="0"/>
              <a:t> </a:t>
            </a:r>
            <a:r>
              <a:rPr lang="en-US" altLang="zh-TW" dirty="0" smtClean="0"/>
              <a:t>code</a:t>
            </a:r>
            <a:r>
              <a:rPr lang="zh-TW" altLang="en-US" dirty="0"/>
              <a:t> </a:t>
            </a:r>
            <a:r>
              <a:rPr lang="en-US" altLang="zh-TW" dirty="0" smtClean="0"/>
              <a:t>base</a:t>
            </a:r>
            <a:r>
              <a:rPr lang="zh-TW" altLang="en-US" dirty="0" smtClean="0"/>
              <a:t>為例</a:t>
            </a:r>
            <a:endParaRPr lang="en-US" altLang="zh-TW" dirty="0" smtClean="0"/>
          </a:p>
          <a:p>
            <a:r>
              <a:rPr lang="zh-TW" altLang="en-US" dirty="0" smtClean="0"/>
              <a:t>一個</a:t>
            </a:r>
            <a:r>
              <a:rPr lang="en-US" altLang="zh-TW" dirty="0" smtClean="0"/>
              <a:t>WIP</a:t>
            </a:r>
            <a:r>
              <a:rPr lang="zh-TW" altLang="en-US" dirty="0" smtClean="0"/>
              <a:t>為單一</a:t>
            </a:r>
            <a:r>
              <a:rPr lang="en-US" altLang="zh-TW" dirty="0" smtClean="0"/>
              <a:t>feature</a:t>
            </a:r>
            <a:r>
              <a:rPr lang="zh-TW" altLang="en-US" dirty="0" smtClean="0"/>
              <a:t>實作</a:t>
            </a:r>
            <a:endParaRPr lang="en-US" altLang="zh-TW" dirty="0" smtClean="0"/>
          </a:p>
          <a:p>
            <a:r>
              <a:rPr lang="zh-TW" altLang="en-US" dirty="0" smtClean="0"/>
              <a:t>完成後整合進</a:t>
            </a:r>
            <a:r>
              <a:rPr lang="en-US" altLang="zh-TW" dirty="0" smtClean="0"/>
              <a:t>C16</a:t>
            </a:r>
            <a:r>
              <a:rPr lang="zh-TW" altLang="en-US" dirty="0" smtClean="0"/>
              <a:t>當中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1600" y="4807807"/>
            <a:ext cx="6105525" cy="1905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1600" y="3341373"/>
            <a:ext cx="4905375" cy="13620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641600" y="4102443"/>
            <a:ext cx="4632411" cy="296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645919" y="5391664"/>
            <a:ext cx="2153594" cy="1280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7069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Build system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b="1" dirty="0" smtClean="0"/>
              <a:t>Commit implementation to review board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dirty="0" smtClean="0"/>
              <a:t>在</a:t>
            </a:r>
            <a:r>
              <a:rPr lang="en-US" altLang="zh-TW" dirty="0" smtClean="0"/>
              <a:t>build</a:t>
            </a:r>
            <a:r>
              <a:rPr lang="zh-TW" altLang="en-US" dirty="0" smtClean="0"/>
              <a:t> </a:t>
            </a:r>
            <a:r>
              <a:rPr lang="en-US" altLang="zh-TW" dirty="0" smtClean="0"/>
              <a:t>system</a:t>
            </a:r>
            <a:r>
              <a:rPr lang="zh-TW" altLang="en-US" dirty="0" smtClean="0"/>
              <a:t>開發完成後，下</a:t>
            </a:r>
            <a:r>
              <a:rPr lang="en-US" altLang="zh-TW" dirty="0" smtClean="0"/>
              <a:t>review</a:t>
            </a:r>
            <a:r>
              <a:rPr lang="zh-TW" altLang="en-US" dirty="0" smtClean="0"/>
              <a:t>需求的指令</a:t>
            </a:r>
            <a:r>
              <a:rPr lang="en-US" altLang="zh-TW" dirty="0" smtClean="0"/>
              <a:t>build system</a:t>
            </a:r>
            <a:r>
              <a:rPr lang="zh-TW" altLang="en-US" dirty="0" smtClean="0"/>
              <a:t>會自動將我們開發的</a:t>
            </a:r>
            <a:r>
              <a:rPr lang="en-US" altLang="zh-TW" dirty="0" smtClean="0"/>
              <a:t>code</a:t>
            </a:r>
            <a:r>
              <a:rPr lang="zh-TW" altLang="en-US" dirty="0" smtClean="0"/>
              <a:t>提交到</a:t>
            </a:r>
            <a:r>
              <a:rPr lang="en-US" altLang="zh-TW" dirty="0" smtClean="0"/>
              <a:t>review</a:t>
            </a:r>
            <a:r>
              <a:rPr lang="zh-TW" altLang="en-US" dirty="0" smtClean="0"/>
              <a:t> </a:t>
            </a:r>
            <a:r>
              <a:rPr lang="en-US" altLang="zh-TW" dirty="0" smtClean="0"/>
              <a:t>board</a:t>
            </a:r>
            <a:r>
              <a:rPr lang="zh-TW" altLang="en-US" dirty="0" smtClean="0"/>
              <a:t>給大家</a:t>
            </a:r>
            <a:r>
              <a:rPr lang="en-US" altLang="zh-TW" dirty="0" smtClean="0"/>
              <a:t>review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Build system</a:t>
            </a:r>
            <a:r>
              <a:rPr lang="zh-TW" altLang="en-US" dirty="0" smtClean="0"/>
              <a:t>會自動帶出</a:t>
            </a:r>
            <a:r>
              <a:rPr lang="en-US" altLang="zh-TW" dirty="0" smtClean="0"/>
              <a:t>review</a:t>
            </a:r>
            <a:r>
              <a:rPr lang="zh-TW" altLang="en-US" dirty="0" smtClean="0"/>
              <a:t> </a:t>
            </a:r>
            <a:r>
              <a:rPr lang="en-US" altLang="zh-TW" dirty="0" smtClean="0"/>
              <a:t>request</a:t>
            </a:r>
            <a:r>
              <a:rPr lang="zh-TW" altLang="en-US" dirty="0" smtClean="0"/>
              <a:t>的</a:t>
            </a:r>
            <a:r>
              <a:rPr lang="en-US" altLang="zh-TW" dirty="0" smtClean="0"/>
              <a:t>URL</a:t>
            </a:r>
          </a:p>
        </p:txBody>
      </p:sp>
      <p:pic>
        <p:nvPicPr>
          <p:cNvPr id="1028" name="Picture 4" descr="https://lh3.googleusercontent.com/v4kcz7J-t_KuTHdsTvMPspY4wUt6yO-m-MjtskKqeGcahFx2mvDdbxpIV3Cz9v4hOdwo-kKY_jlh-6Iv7XGUdfTP0GybBjK1dyAL8pKx2F6F6goXKhPglz9SJwFSYFgsq5IsQGu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3788948"/>
            <a:ext cx="9220434" cy="219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589212" y="5461803"/>
            <a:ext cx="3498550" cy="3212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63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93944"/>
          </a:xfrm>
        </p:spPr>
        <p:txBody>
          <a:bodyPr/>
          <a:lstStyle/>
          <a:p>
            <a:r>
              <a:rPr lang="en-US" altLang="zh-TW" b="1" dirty="0"/>
              <a:t>Review board </a:t>
            </a:r>
            <a:r>
              <a:rPr lang="en-US" altLang="zh-TW" b="1" dirty="0" smtClean="0"/>
              <a:t>system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http://10.62.2.75/reviewboard/dashboard</a:t>
            </a:r>
            <a:r>
              <a:rPr lang="en-US" altLang="zh-TW" dirty="0" smtClean="0">
                <a:hlinkClick r:id="rId2"/>
              </a:rPr>
              <a:t>/</a:t>
            </a:r>
            <a:endParaRPr lang="en-US" altLang="zh-TW" dirty="0" smtClean="0"/>
          </a:p>
          <a:p>
            <a:r>
              <a:rPr lang="zh-TW" altLang="en-US" dirty="0" smtClean="0"/>
              <a:t>可以</a:t>
            </a:r>
            <a:r>
              <a:rPr lang="zh-TW" altLang="en-US" dirty="0"/>
              <a:t>查看</a:t>
            </a:r>
            <a:r>
              <a:rPr lang="zh-TW" altLang="en-US" dirty="0" smtClean="0"/>
              <a:t>已經提交的</a:t>
            </a:r>
            <a:r>
              <a:rPr lang="en-US" altLang="zh-TW" dirty="0" smtClean="0"/>
              <a:t>review</a:t>
            </a:r>
            <a:r>
              <a:rPr lang="zh-TW" altLang="en-US" dirty="0" smtClean="0"/>
              <a:t> </a:t>
            </a:r>
            <a:r>
              <a:rPr lang="en-US" altLang="zh-TW" dirty="0" smtClean="0"/>
              <a:t>request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89212" y="2965620"/>
            <a:ext cx="6448425" cy="28384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795151" y="3586934"/>
            <a:ext cx="4242486" cy="6755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159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Review board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所</a:t>
            </a:r>
            <a:r>
              <a:rPr lang="zh-TW" altLang="en-US" dirty="0"/>
              <a:t>有</a:t>
            </a:r>
            <a:r>
              <a:rPr lang="zh-TW" altLang="en-US" dirty="0" smtClean="0"/>
              <a:t>已經</a:t>
            </a:r>
            <a:r>
              <a:rPr lang="en-US" altLang="zh-TW" dirty="0" smtClean="0"/>
              <a:t>review</a:t>
            </a:r>
            <a:r>
              <a:rPr lang="zh-TW" altLang="en-US" dirty="0" smtClean="0"/>
              <a:t>過的</a:t>
            </a:r>
            <a:r>
              <a:rPr lang="en-US" altLang="zh-TW" dirty="0" smtClean="0"/>
              <a:t>review request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89212" y="2522451"/>
            <a:ext cx="40862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Code Review  Format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92925" y="1820561"/>
            <a:ext cx="2918189" cy="1243915"/>
          </a:xfrm>
        </p:spPr>
        <p:txBody>
          <a:bodyPr/>
          <a:lstStyle/>
          <a:p>
            <a:r>
              <a:rPr lang="en-US" altLang="zh-TW" b="1" dirty="0" smtClean="0"/>
              <a:t>Show </a:t>
            </a:r>
            <a:r>
              <a:rPr lang="en-US" altLang="zh-TW" b="1" dirty="0"/>
              <a:t>d</a:t>
            </a:r>
            <a:r>
              <a:rPr lang="en-US" altLang="zh-TW" b="1" dirty="0" smtClean="0"/>
              <a:t>iff code</a:t>
            </a:r>
          </a:p>
          <a:p>
            <a:r>
              <a:rPr lang="en-US" altLang="zh-TW" b="1" dirty="0" smtClean="0"/>
              <a:t>Reviewer feedback</a:t>
            </a:r>
          </a:p>
          <a:p>
            <a:r>
              <a:rPr lang="en-US" altLang="zh-TW" b="1" dirty="0" smtClean="0"/>
              <a:t>Author reply</a:t>
            </a:r>
            <a:endParaRPr lang="zh-TW" altLang="en-US" b="1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70587" y="1370313"/>
            <a:ext cx="5534025" cy="222885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2925" y="3599163"/>
            <a:ext cx="5048250" cy="31051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693773" y="4160108"/>
            <a:ext cx="4852086" cy="1079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2693773" y="5293326"/>
            <a:ext cx="4852086" cy="8726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6190734" y="1820561"/>
            <a:ext cx="5313877" cy="172454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2"/>
          <p:cNvSpPr txBox="1">
            <a:spLocks/>
          </p:cNvSpPr>
          <p:nvPr/>
        </p:nvSpPr>
        <p:spPr>
          <a:xfrm>
            <a:off x="7742023" y="4538276"/>
            <a:ext cx="1293106" cy="4943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Feedback</a:t>
            </a:r>
          </a:p>
        </p:txBody>
      </p:sp>
      <p:sp>
        <p:nvSpPr>
          <p:cNvPr id="13" name="內容版面配置區 2"/>
          <p:cNvSpPr txBox="1">
            <a:spLocks/>
          </p:cNvSpPr>
          <p:nvPr/>
        </p:nvSpPr>
        <p:spPr>
          <a:xfrm>
            <a:off x="11051294" y="3751563"/>
            <a:ext cx="1293106" cy="494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smtClean="0">
                <a:solidFill>
                  <a:srgbClr val="00B0F0"/>
                </a:solidFill>
              </a:rPr>
              <a:t>Diff code</a:t>
            </a:r>
          </a:p>
        </p:txBody>
      </p:sp>
      <p:sp>
        <p:nvSpPr>
          <p:cNvPr id="14" name="內容版面配置區 2"/>
          <p:cNvSpPr txBox="1">
            <a:spLocks/>
          </p:cNvSpPr>
          <p:nvPr/>
        </p:nvSpPr>
        <p:spPr>
          <a:xfrm>
            <a:off x="7742023" y="5551530"/>
            <a:ext cx="1293106" cy="494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smtClean="0">
                <a:solidFill>
                  <a:srgbClr val="00B050"/>
                </a:solidFill>
              </a:rPr>
              <a:t>Diff code</a:t>
            </a:r>
          </a:p>
        </p:txBody>
      </p:sp>
    </p:spTree>
    <p:extLst>
      <p:ext uri="{BB962C8B-B14F-4D97-AF65-F5344CB8AC3E}">
        <p14:creationId xmlns:p14="http://schemas.microsoft.com/office/powerpoint/2010/main" val="60322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Example 1: </a:t>
            </a:r>
            <a:r>
              <a:rPr lang="en-US" altLang="zh-TW" b="1" dirty="0"/>
              <a:t>ADC sensor </a:t>
            </a:r>
            <a:r>
              <a:rPr lang="en-US" altLang="zh-TW" b="1" dirty="0" smtClean="0"/>
              <a:t>reading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91068" y="4308389"/>
            <a:ext cx="8915400" cy="1756851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b="1" dirty="0" smtClean="0"/>
              <a:t>Feedback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TW" altLang="zh-TW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Please remove the whole code block.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arenR"/>
            </a:pPr>
            <a:r>
              <a:rPr lang="zh-TW" altLang="zh-TW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留下一個空內容的 if block 會對閱讀程式碼造成額外的負擔。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arenR"/>
            </a:pPr>
            <a:r>
              <a:rPr lang="zh-TW" altLang="zh-TW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根據 code review guideline，我們不希望留下 commented-out 的源碼</a:t>
            </a:r>
            <a:r>
              <a:rPr lang="zh-TW" altLang="zh-TW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zh-TW" altLang="zh-TW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b="1" dirty="0" smtClean="0"/>
              <a:t>Reply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 Fixed it.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zh-TW" altLang="zh-TW" sz="4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89212" y="2045845"/>
            <a:ext cx="6724650" cy="18859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46854" y="2508135"/>
            <a:ext cx="2932670" cy="259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577872" y="2281593"/>
            <a:ext cx="1113047" cy="314127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tabLst/>
            </a:pPr>
            <a:r>
              <a:rPr lang="en-US" altLang="zh-TW" sz="2000" b="1" dirty="0" smtClean="0">
                <a:solidFill>
                  <a:srgbClr val="FF0000"/>
                </a:solidFill>
                <a:latin typeface="+mn-ea"/>
              </a:rPr>
              <a:t>remove</a:t>
            </a:r>
            <a:endParaRPr kumimoji="0" lang="zh-TW" altLang="zh-TW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7" name="圖案 8"/>
          <p:cNvCxnSpPr>
            <a:endCxn id="6" idx="2"/>
          </p:cNvCxnSpPr>
          <p:nvPr/>
        </p:nvCxnSpPr>
        <p:spPr>
          <a:xfrm flipV="1">
            <a:off x="6079524" y="2595720"/>
            <a:ext cx="2054872" cy="5395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86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</a:t>
            </a:r>
            <a:r>
              <a:rPr lang="en-US" altLang="zh-TW" b="1" dirty="0" smtClean="0"/>
              <a:t>xample 2 : Sensor API</a:t>
            </a:r>
            <a:endParaRPr lang="zh-TW" altLang="en-US" dirty="0"/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2591068" y="3863546"/>
            <a:ext cx="8637105" cy="17568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b="1" dirty="0" smtClean="0"/>
              <a:t>Feedback</a:t>
            </a:r>
          </a:p>
          <a:p>
            <a:pPr marL="800100" lvl="1" indent="-342900">
              <a:buFont typeface="+mj-lt"/>
              <a:buAutoNum type="arabicParenR"/>
            </a:pPr>
            <a:r>
              <a:rPr lang="zh-TW" altLang="en-US" dirty="0" smtClean="0"/>
              <a:t>為了</a:t>
            </a:r>
            <a:r>
              <a:rPr lang="zh-TW" altLang="en-US" dirty="0"/>
              <a:t>方便使用，轉換函數的回傳值一般不會用來表示成功或失敗。但考慮到 </a:t>
            </a:r>
            <a:r>
              <a:rPr lang="en-US" altLang="zh-TW" dirty="0" err="1"/>
              <a:t>GetMBR</a:t>
            </a:r>
            <a:r>
              <a:rPr lang="en-US" altLang="zh-TW" dirty="0"/>
              <a:t> </a:t>
            </a:r>
            <a:r>
              <a:rPr lang="zh-TW" altLang="en-US" dirty="0"/>
              <a:t>可能會失敗，這裡應該要產生一筆 </a:t>
            </a:r>
            <a:r>
              <a:rPr lang="en-US" altLang="zh-TW" dirty="0"/>
              <a:t>Warning</a:t>
            </a:r>
            <a:r>
              <a:rPr lang="zh-TW" altLang="en-US" dirty="0"/>
              <a:t>。</a:t>
            </a:r>
          </a:p>
          <a:p>
            <a:pPr marL="800100" lvl="1" indent="-342900">
              <a:buFont typeface="+mj-lt"/>
              <a:buAutoNum type="arabicParenR"/>
            </a:pPr>
            <a:r>
              <a:rPr lang="zh-TW" altLang="en-US" dirty="0"/>
              <a:t>之所以是 </a:t>
            </a:r>
            <a:r>
              <a:rPr lang="en-US" altLang="zh-TW" dirty="0"/>
              <a:t>Warning </a:t>
            </a:r>
            <a:r>
              <a:rPr lang="zh-TW" altLang="en-US" dirty="0"/>
              <a:t>而非 </a:t>
            </a:r>
            <a:r>
              <a:rPr lang="en-US" altLang="zh-TW" dirty="0"/>
              <a:t>Error</a:t>
            </a:r>
            <a:r>
              <a:rPr lang="zh-TW" altLang="en-US" dirty="0"/>
              <a:t>，乃是因為轉換函數總是會成功。但若無法取得有效的 </a:t>
            </a:r>
            <a:r>
              <a:rPr lang="en-US" altLang="zh-TW" dirty="0"/>
              <a:t>MBR</a:t>
            </a:r>
            <a:r>
              <a:rPr lang="zh-TW" altLang="en-US" dirty="0"/>
              <a:t>，函數回傳的值很高機會是錯誤的。</a:t>
            </a:r>
            <a:endParaRPr lang="en-US" altLang="zh-TW" dirty="0" smtClean="0"/>
          </a:p>
          <a:p>
            <a:r>
              <a:rPr lang="en-US" altLang="zh-TW" sz="1600" b="1" dirty="0" smtClean="0"/>
              <a:t>Reply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600" dirty="0" smtClean="0"/>
              <a:t>      Fixed it.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 3" charset="2"/>
              <a:buNone/>
            </a:pPr>
            <a:endParaRPr lang="zh-TW" altLang="zh-TW" sz="1600" dirty="0" smtClean="0">
              <a:solidFill>
                <a:schemeClr val="tx1"/>
              </a:solidFill>
            </a:endParaRPr>
          </a:p>
          <a:p>
            <a:endParaRPr lang="zh-TW" altLang="en-US" sz="16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91068" y="1905000"/>
            <a:ext cx="6467475" cy="149542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965622" y="2751438"/>
            <a:ext cx="2726724" cy="1729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190694" y="2468673"/>
            <a:ext cx="2497003" cy="314127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tabLst/>
            </a:pPr>
            <a:r>
              <a:rPr lang="zh-TW" altLang="en-US" sz="2000" b="1" dirty="0" smtClean="0">
                <a:solidFill>
                  <a:srgbClr val="FF0000"/>
                </a:solidFill>
                <a:latin typeface="+mn-ea"/>
              </a:rPr>
              <a:t>增加判斷與錯誤訊息</a:t>
            </a:r>
            <a:endParaRPr kumimoji="0" lang="zh-TW" altLang="zh-TW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7" name="圖案 8"/>
          <p:cNvCxnSpPr>
            <a:endCxn id="6" idx="2"/>
          </p:cNvCxnSpPr>
          <p:nvPr/>
        </p:nvCxnSpPr>
        <p:spPr>
          <a:xfrm flipV="1">
            <a:off x="5692346" y="2782800"/>
            <a:ext cx="2746850" cy="5395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00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Ship code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b="1" dirty="0" smtClean="0"/>
              <a:t>Code review</a:t>
            </a:r>
            <a:r>
              <a:rPr lang="zh-TW" altLang="en-US" sz="2000" b="1" dirty="0" smtClean="0"/>
              <a:t>完成後提交到 </a:t>
            </a:r>
            <a:r>
              <a:rPr lang="en-US" altLang="zh-TW" sz="2000" b="1" dirty="0" err="1" smtClean="0"/>
              <a:t>Git</a:t>
            </a:r>
            <a:r>
              <a:rPr lang="en-US" altLang="zh-TW" sz="2000" b="1" dirty="0" smtClean="0"/>
              <a:t> </a:t>
            </a:r>
            <a:r>
              <a:rPr lang="zh-TW" altLang="en-US" sz="2000" b="1" dirty="0" smtClean="0"/>
              <a:t>檔案庫</a:t>
            </a:r>
            <a:endParaRPr lang="en-US" altLang="zh-TW" sz="2000" b="1" dirty="0" smtClean="0"/>
          </a:p>
          <a:p>
            <a:endParaRPr lang="en-US" altLang="zh-TW" sz="2000" b="1" dirty="0" smtClean="0"/>
          </a:p>
          <a:p>
            <a:endParaRPr lang="en-US" altLang="zh-TW" sz="2000" b="1" dirty="0" smtClean="0"/>
          </a:p>
          <a:p>
            <a:endParaRPr lang="en-US" altLang="zh-TW" sz="2000" b="1" dirty="0" smtClean="0"/>
          </a:p>
          <a:p>
            <a:endParaRPr lang="en-US" altLang="zh-TW" sz="2000" b="1" dirty="0" smtClean="0"/>
          </a:p>
          <a:p>
            <a:endParaRPr lang="en-US" altLang="zh-TW" sz="2000" b="1" dirty="0" smtClean="0"/>
          </a:p>
          <a:p>
            <a:r>
              <a:rPr lang="zh-TW" altLang="en-US" sz="2000" b="1" dirty="0" smtClean="0"/>
              <a:t>此功能的開發即完成</a:t>
            </a:r>
          </a:p>
          <a:p>
            <a:endParaRPr lang="zh-TW" altLang="en-US" sz="2000" b="1" dirty="0"/>
          </a:p>
        </p:txBody>
      </p:sp>
      <p:pic>
        <p:nvPicPr>
          <p:cNvPr id="2050" name="Picture 2" descr="https://lh3.googleusercontent.com/sjM4igZ2dc1w66TvLwuKNplZsN-T88nbKLOoU3NSkqOzIqaUAEfM-B568ridjG5R-0SqCCs0dQAwL7ItFPPNzGJt051qwH0t9bWSmHnevOHhrsSGHsuzI74Gn9k0cF_LUoxNn2Y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816" y="2692014"/>
            <a:ext cx="5114925" cy="193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92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Code Review</a:t>
            </a:r>
            <a:r>
              <a:rPr lang="zh-TW" altLang="en-US" b="1" dirty="0"/>
              <a:t>專案實例</a:t>
            </a:r>
            <a:r>
              <a:rPr lang="en-US" altLang="zh-TW" b="1" dirty="0"/>
              <a:t> –</a:t>
            </a:r>
            <a:r>
              <a:rPr lang="zh-TW" altLang="en-US" b="1" dirty="0"/>
              <a:t> </a:t>
            </a:r>
            <a:r>
              <a:rPr lang="en-US" altLang="zh-TW" b="1" dirty="0" err="1"/>
              <a:t>Stryper</a:t>
            </a:r>
            <a:r>
              <a:rPr lang="en-US" altLang="zh-TW" b="1" dirty="0"/>
              <a:t/>
            </a:r>
            <a:br>
              <a:rPr lang="en-US" altLang="zh-TW" b="1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針對已經上傳</a:t>
            </a:r>
            <a:r>
              <a:rPr lang="en-US" altLang="zh-TW" dirty="0" err="1" smtClean="0"/>
              <a:t>git</a:t>
            </a:r>
            <a:r>
              <a:rPr lang="zh-TW" altLang="en-US" dirty="0" smtClean="0"/>
              <a:t> 檔案庫的</a:t>
            </a:r>
            <a:r>
              <a:rPr lang="en-US" altLang="zh-TW" dirty="0" smtClean="0"/>
              <a:t>code</a:t>
            </a:r>
            <a:r>
              <a:rPr lang="zh-TW" altLang="en-US" dirty="0" smtClean="0"/>
              <a:t>進行</a:t>
            </a:r>
            <a:r>
              <a:rPr lang="en-US" altLang="zh-TW" dirty="0" smtClean="0"/>
              <a:t>code review</a:t>
            </a:r>
          </a:p>
          <a:p>
            <a:r>
              <a:rPr lang="zh-TW" altLang="en-US" dirty="0" smtClean="0"/>
              <a:t>根據</a:t>
            </a:r>
            <a:r>
              <a:rPr lang="en-US" altLang="zh-TW" dirty="0"/>
              <a:t>Get Healthy </a:t>
            </a:r>
            <a:r>
              <a:rPr lang="en-US" altLang="zh-TW" dirty="0" smtClean="0"/>
              <a:t>Plan</a:t>
            </a:r>
            <a:r>
              <a:rPr lang="zh-TW" altLang="en-US" dirty="0" smtClean="0"/>
              <a:t>對每個已經完成的細項功能進行</a:t>
            </a:r>
            <a:r>
              <a:rPr lang="en-US" altLang="zh-TW" dirty="0" smtClean="0"/>
              <a:t>code review</a:t>
            </a:r>
          </a:p>
          <a:p>
            <a:r>
              <a:rPr lang="zh-TW" altLang="en-US" dirty="0" smtClean="0"/>
              <a:t>對每個細項撰寫一份</a:t>
            </a:r>
            <a:r>
              <a:rPr lang="en-US" altLang="zh-TW" dirty="0" smtClean="0"/>
              <a:t>code</a:t>
            </a:r>
            <a:r>
              <a:rPr lang="zh-TW" altLang="en-US" dirty="0" smtClean="0"/>
              <a:t> </a:t>
            </a:r>
            <a:r>
              <a:rPr lang="en-US" altLang="zh-TW" dirty="0" smtClean="0"/>
              <a:t>review</a:t>
            </a:r>
            <a:r>
              <a:rPr lang="zh-TW" altLang="en-US" dirty="0" smtClean="0"/>
              <a:t> </a:t>
            </a:r>
            <a:r>
              <a:rPr lang="en-US" altLang="zh-TW" dirty="0" smtClean="0"/>
              <a:t>report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Reviewed functions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Error handling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687998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 smtClean="0">
                <a:latin typeface="+mn-lt"/>
              </a:rPr>
              <a:t>Stryper</a:t>
            </a:r>
            <a:r>
              <a:rPr lang="en-US" altLang="zh-TW" b="1" dirty="0" smtClean="0">
                <a:latin typeface="+mn-lt"/>
              </a:rPr>
              <a:t> </a:t>
            </a:r>
            <a:r>
              <a:rPr lang="en-US" altLang="zh-TW" b="1" dirty="0" err="1" smtClean="0">
                <a:latin typeface="+mn-lt"/>
              </a:rPr>
              <a:t>git</a:t>
            </a:r>
            <a:r>
              <a:rPr lang="zh-TW" altLang="en-US" b="1" dirty="0" smtClean="0">
                <a:latin typeface="+mn-lt"/>
              </a:rPr>
              <a:t> 檔案庫</a:t>
            </a:r>
            <a:endParaRPr lang="zh-TW" altLang="en-US" b="1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額外提交</a:t>
            </a:r>
            <a:r>
              <a:rPr lang="en-US" altLang="zh-TW" dirty="0" smtClean="0"/>
              <a:t>commit</a:t>
            </a:r>
            <a:r>
              <a:rPr lang="zh-TW" altLang="en-US" dirty="0" smtClean="0"/>
              <a:t>來修正</a:t>
            </a:r>
            <a:r>
              <a:rPr lang="en-US" altLang="zh-TW" dirty="0" smtClean="0"/>
              <a:t>code review</a:t>
            </a:r>
            <a:r>
              <a:rPr lang="zh-TW" altLang="en-US" dirty="0" smtClean="0"/>
              <a:t>文件的</a:t>
            </a:r>
            <a:r>
              <a:rPr lang="en-US" altLang="zh-TW" dirty="0" err="1" smtClean="0"/>
              <a:t>recommand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363384"/>
            <a:ext cx="7038975" cy="2247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89212" y="4102443"/>
            <a:ext cx="5055502" cy="1276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537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Get Healthy </a:t>
            </a:r>
            <a:r>
              <a:rPr lang="en-US" altLang="zh-TW" b="1" dirty="0" smtClean="0"/>
              <a:t>Plan (1/2)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600" dirty="0"/>
              <a:t>在</a:t>
            </a:r>
            <a:r>
              <a:rPr lang="en-US" altLang="zh-TW" sz="1600" dirty="0" smtClean="0"/>
              <a:t>Get Healthy Plan</a:t>
            </a:r>
            <a:r>
              <a:rPr lang="zh-TW" altLang="en-US" sz="1600" dirty="0" smtClean="0"/>
              <a:t>根據每個細項</a:t>
            </a:r>
            <a:r>
              <a:rPr lang="zh-TW" altLang="en-US" sz="1600" dirty="0"/>
              <a:t>功能</a:t>
            </a:r>
            <a:r>
              <a:rPr lang="zh-TW" altLang="en-US" sz="1600" dirty="0" smtClean="0"/>
              <a:t>做</a:t>
            </a:r>
            <a:r>
              <a:rPr lang="en-US" altLang="zh-TW" sz="1600" dirty="0" smtClean="0"/>
              <a:t>code review</a:t>
            </a:r>
            <a:endParaRPr lang="zh-TW" altLang="en-US" sz="16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89212" y="2704864"/>
            <a:ext cx="902017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9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Get Healthy </a:t>
            </a:r>
            <a:r>
              <a:rPr lang="en-US" altLang="zh-TW" b="1" dirty="0" smtClean="0"/>
              <a:t>Plan(2/2)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600" dirty="0" smtClean="0"/>
              <a:t>每個</a:t>
            </a:r>
            <a:r>
              <a:rPr lang="en-US" altLang="zh-TW" sz="1600" dirty="0" smtClean="0"/>
              <a:t>code review </a:t>
            </a:r>
            <a:r>
              <a:rPr lang="zh-TW" altLang="en-US" sz="1600" dirty="0" smtClean="0"/>
              <a:t>項目存成一個</a:t>
            </a:r>
            <a:r>
              <a:rPr lang="en-US" altLang="zh-TW" sz="1600" dirty="0" smtClean="0"/>
              <a:t>word</a:t>
            </a:r>
            <a:r>
              <a:rPr lang="zh-TW" altLang="en-US" sz="1600" dirty="0" smtClean="0"/>
              <a:t>檔</a:t>
            </a:r>
            <a:endParaRPr lang="zh-TW" altLang="en-US" sz="1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91743" y="2624803"/>
            <a:ext cx="755332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6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Code Review – </a:t>
            </a:r>
            <a:r>
              <a:rPr lang="en-US" altLang="zh-TW" b="1" dirty="0" err="1"/>
              <a:t>Stryper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b="1" dirty="0" smtClean="0"/>
              <a:t>Code review document guideline</a:t>
            </a:r>
          </a:p>
          <a:p>
            <a:pPr lvl="1"/>
            <a:r>
              <a:rPr lang="en-US" altLang="zh-TW" dirty="0" smtClean="0"/>
              <a:t>Review items</a:t>
            </a:r>
          </a:p>
          <a:p>
            <a:pPr lvl="1"/>
            <a:r>
              <a:rPr lang="en-US" altLang="zh-TW" dirty="0" smtClean="0"/>
              <a:t>Review functions</a:t>
            </a:r>
          </a:p>
          <a:p>
            <a:pPr lvl="1"/>
            <a:r>
              <a:rPr lang="en-US" altLang="zh-TW" dirty="0" smtClean="0"/>
              <a:t>Error handling review functions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112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Example 1: 5.38 Get Processor Info</a:t>
            </a:r>
            <a:endParaRPr lang="zh-TW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2592925" y="5898198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＊</a:t>
            </a:r>
            <a:r>
              <a:rPr lang="en-US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--&gt;If there is a ‘</a:t>
            </a:r>
            <a:r>
              <a:rPr lang="zh-TW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＊</a:t>
            </a:r>
            <a:r>
              <a:rPr lang="en-US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’in remark box, it indicates that there is an error which needs to be fixed. </a:t>
            </a:r>
            <a:endParaRPr lang="zh-TW" altLang="zh-TW" sz="1600" kern="100" dirty="0" smtClean="0"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TW" sz="1600" dirty="0" smtClean="0">
                <a:highlight>
                  <a:srgbClr val="FFFF00"/>
                </a:highlight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TW" sz="1600" dirty="0" smtClean="0">
                <a:highlight>
                  <a:srgbClr val="FFFF00"/>
                </a:highlight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zh-TW" altLang="en-US" sz="16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266652"/>
              </p:ext>
            </p:extLst>
          </p:nvPr>
        </p:nvGraphicFramePr>
        <p:xfrm>
          <a:off x="2592925" y="2221385"/>
          <a:ext cx="6616978" cy="3562350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5175356"/>
                <a:gridCol w="789060"/>
                <a:gridCol w="652562"/>
              </a:tblGrid>
              <a:tr h="2095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FUNCTION/FEATURE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checked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Remark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F-1. Check all variables initialized before using.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F-2. Check there are no unused variables.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F-3. Check the codes match the specification function feature.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F-4. Check the code can be modified simpler.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41910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F-5. Check code used appropriate, include algorithms, data structures, types, templates, libraries, RTOS functions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ERROR HANDLING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E-1. Check the input parameters have correct type.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E-2. Check the error return codes had been handle properly.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E-3. Check the negative numbers handled properly.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E-4. Check the pointers usage properly.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41910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E-5. Check the condition (if/switch) statements have a default clause used for error detection.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E-6. Check index of the arrays to not occur out of range value.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E-7. Check the memory leak (memory free properly).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E-8. Check the overflow/underflow for mathematical.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Y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592925" y="1687705"/>
            <a:ext cx="2056928" cy="37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TW" sz="1600" b="1" kern="100" dirty="0" smtClean="0">
                <a:ea typeface="新細明體"/>
                <a:cs typeface="Times New Roman"/>
              </a:rPr>
              <a:t>Review Items</a:t>
            </a:r>
            <a:endParaRPr lang="zh-TW" altLang="zh-TW" sz="1600" b="1" kern="100" dirty="0"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287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Review function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b="1" dirty="0" smtClean="0"/>
              <a:t>List all reviewed functions and file path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WCSGetPersistentProcessorINFOEEPROM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src</a:t>
            </a:r>
            <a:r>
              <a:rPr lang="en-US" altLang="zh-TW" dirty="0" smtClean="0"/>
              <a:t>/libraries/libipmiwcs-1.0.0/</a:t>
            </a:r>
            <a:r>
              <a:rPr lang="en-US" altLang="zh-TW" dirty="0" err="1" smtClean="0"/>
              <a:t>WCSCore.c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WCSSetProcessorInfo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src</a:t>
            </a:r>
            <a:r>
              <a:rPr lang="en-US" altLang="zh-TW" dirty="0" smtClean="0"/>
              <a:t>/libraries/libipmiwcs-1.0.0/</a:t>
            </a:r>
            <a:r>
              <a:rPr lang="en-US" altLang="zh-TW" dirty="0" err="1" smtClean="0"/>
              <a:t>WCSCmds.c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WCSGetProcessorInfo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src</a:t>
            </a:r>
            <a:r>
              <a:rPr lang="en-US" altLang="zh-TW" dirty="0" smtClean="0"/>
              <a:t>/libraries/libipmiwcs-1.0.0/</a:t>
            </a:r>
            <a:r>
              <a:rPr lang="en-US" altLang="zh-TW" dirty="0" err="1" smtClean="0"/>
              <a:t>WCSCmds.c</a:t>
            </a:r>
            <a:r>
              <a:rPr lang="en-US" altLang="zh-TW" dirty="0"/>
              <a:t>)</a:t>
            </a:r>
            <a:endParaRPr lang="zh-TW" altLang="zh-TW" dirty="0"/>
          </a:p>
          <a:p>
            <a:r>
              <a:rPr lang="en-US" altLang="zh-TW" sz="2000" b="1" dirty="0" smtClean="0"/>
              <a:t>Content Format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Comment (Suggestion)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Error (MUST Fixed)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165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/>
              <a:t>Review function - </a:t>
            </a:r>
            <a:r>
              <a:rPr lang="en-US" altLang="zh-TW" sz="2400" b="1" dirty="0" err="1"/>
              <a:t>WCSGetPersistentProcessorINFOEEPROM</a:t>
            </a:r>
            <a:endParaRPr lang="zh-TW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234321"/>
            <a:ext cx="52863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515072" y="1575679"/>
            <a:ext cx="7937853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Arial"/>
              </a:rPr>
              <a:t>The functions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is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Arial"/>
              </a:rPr>
              <a:t>reviewed </a:t>
            </a:r>
            <a:r>
              <a:rPr lang="en-US" altLang="zh-TW" sz="1600" dirty="0" err="1" smtClean="0"/>
              <a:t>BMCInst</a:t>
            </a:r>
            <a:r>
              <a:rPr lang="en-US" altLang="zh-TW" sz="1600" dirty="0" smtClean="0"/>
              <a:t> and default EEPROM </a:t>
            </a:r>
            <a:r>
              <a:rPr lang="en-US" altLang="zh-TW" sz="1600" dirty="0"/>
              <a:t>value</a:t>
            </a:r>
            <a:r>
              <a:rPr lang="en-US" altLang="zh-TW" sz="1600" dirty="0" smtClean="0"/>
              <a:t> is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Arial"/>
              </a:rPr>
              <a:t>the detailed review result for each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comments:</a:t>
            </a:r>
            <a:endParaRPr lang="zh-TW" altLang="zh-TW" sz="1600" kern="100" dirty="0">
              <a:ea typeface="新細明體"/>
              <a:cs typeface="Times New Roman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2589212" y="4554715"/>
            <a:ext cx="8915400" cy="1746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zh-TW" b="1" u="sng" dirty="0" smtClean="0"/>
              <a:t>comment(Suggestion</a:t>
            </a:r>
            <a:r>
              <a:rPr lang="en-US" altLang="zh-TW" b="1" u="sng" dirty="0" smtClean="0"/>
              <a:t>):</a:t>
            </a:r>
            <a:endParaRPr lang="en-US" altLang="zh-TW" b="1" u="sng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Recommend to replace “</a:t>
            </a:r>
            <a:r>
              <a:rPr lang="en-US" altLang="zh-TW" dirty="0" err="1"/>
              <a:t>BMCInst</a:t>
            </a:r>
            <a:r>
              <a:rPr lang="en-US" altLang="zh-TW" dirty="0"/>
              <a:t>” with “</a:t>
            </a:r>
            <a:r>
              <a:rPr lang="en-US" altLang="zh-TW" dirty="0" err="1"/>
              <a:t>int</a:t>
            </a:r>
            <a:r>
              <a:rPr lang="en-US" altLang="zh-TW" dirty="0"/>
              <a:t> </a:t>
            </a:r>
            <a:r>
              <a:rPr lang="en-US" altLang="zh-TW" dirty="0" err="1"/>
              <a:t>BMCInst</a:t>
            </a:r>
            <a:r>
              <a:rPr lang="en-US" altLang="zh-TW" dirty="0"/>
              <a:t>”. This declaration way can’t affect compiler execution currently.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Recommend </a:t>
            </a:r>
            <a:r>
              <a:rPr lang="en-US" altLang="zh-TW" dirty="0"/>
              <a:t>processor info need to write default value to EEPROM when “</a:t>
            </a:r>
            <a:r>
              <a:rPr lang="en-US" altLang="zh-TW" dirty="0" err="1"/>
              <a:t>ProInfo.Data</a:t>
            </a:r>
            <a:r>
              <a:rPr lang="en-US" altLang="zh-TW" dirty="0"/>
              <a:t>[5] != OEM_SET_FLAG”.</a:t>
            </a:r>
            <a:endParaRPr lang="zh-TW" altLang="zh-TW" dirty="0"/>
          </a:p>
          <a:p>
            <a:r>
              <a:rPr lang="en-US" altLang="zh-TW" sz="1600" b="1" u="heavy" dirty="0" smtClean="0"/>
              <a:t>Error (MUST Fixed):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600" dirty="0" smtClean="0"/>
              <a:t>        </a:t>
            </a:r>
            <a:r>
              <a:rPr lang="en-US" altLang="zh-TW" sz="1600" u="heavy" dirty="0" smtClean="0"/>
              <a:t>N/A</a:t>
            </a:r>
            <a:endParaRPr lang="en-US" altLang="zh-TW" sz="160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zh-TW" alt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988908" y="2249665"/>
            <a:ext cx="560173" cy="15651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957383" y="3476368"/>
            <a:ext cx="1935893" cy="140044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7104879" y="2135363"/>
            <a:ext cx="1643705" cy="79431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zh-TW" altLang="en-US" sz="2000" b="1" dirty="0" smtClean="0">
                <a:solidFill>
                  <a:srgbClr val="FF0000"/>
                </a:solidFill>
              </a:rPr>
              <a:t>改</a:t>
            </a:r>
            <a:r>
              <a:rPr lang="zh-TW" altLang="en-US" sz="2000" b="1" dirty="0">
                <a:solidFill>
                  <a:srgbClr val="FF0000"/>
                </a:solidFill>
              </a:rPr>
              <a:t>成</a:t>
            </a:r>
            <a:r>
              <a:rPr kumimoji="0" lang="zh-TW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zh-TW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zh-TW" sz="20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 </a:t>
            </a:r>
            <a:r>
              <a:rPr lang="en-US" altLang="zh-TW" sz="2000" b="1" dirty="0" err="1">
                <a:solidFill>
                  <a:srgbClr val="FF0000"/>
                </a:solidFill>
              </a:rPr>
              <a:t>BMCInst</a:t>
            </a:r>
            <a:endParaRPr kumimoji="0" lang="zh-TW" altLang="zh-TW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6549081" y="2378307"/>
            <a:ext cx="497831" cy="154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8311420" y="3355578"/>
            <a:ext cx="3110931" cy="79431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zh-TW" altLang="en-US" sz="2000" b="1" dirty="0" smtClean="0">
                <a:solidFill>
                  <a:srgbClr val="FF0000"/>
                </a:solidFill>
              </a:rPr>
              <a:t>寫入</a:t>
            </a:r>
            <a:endParaRPr lang="en-US" altLang="zh-TW" sz="2000" b="1" dirty="0" smtClean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zh-TW" sz="2000" b="1" dirty="0" smtClean="0">
                <a:solidFill>
                  <a:srgbClr val="FF0000"/>
                </a:solidFill>
              </a:rPr>
              <a:t>Default EEPROM</a:t>
            </a:r>
            <a:endParaRPr kumimoji="0" lang="zh-TW" altLang="zh-TW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cxnSp>
        <p:nvCxnSpPr>
          <p:cNvPr id="14" name="直線單箭頭接點 13"/>
          <p:cNvCxnSpPr>
            <a:stCxn id="8" idx="3"/>
          </p:cNvCxnSpPr>
          <p:nvPr/>
        </p:nvCxnSpPr>
        <p:spPr>
          <a:xfrm>
            <a:off x="4893276" y="3546390"/>
            <a:ext cx="3418144" cy="206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00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Error handling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b="1" dirty="0"/>
              <a:t>List all reviewed functions and file </a:t>
            </a:r>
            <a:r>
              <a:rPr lang="en-US" altLang="zh-TW" sz="2000" b="1" dirty="0" smtClean="0"/>
              <a:t>path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WCSGetPersistentProcessorINFOEEPROM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src</a:t>
            </a:r>
            <a:r>
              <a:rPr lang="en-US" altLang="zh-TW" dirty="0" smtClean="0"/>
              <a:t>/libraries/libipmiwcs-1.0.0/</a:t>
            </a:r>
            <a:r>
              <a:rPr lang="en-US" altLang="zh-TW" dirty="0" err="1" smtClean="0"/>
              <a:t>WCSCore.c</a:t>
            </a:r>
            <a:r>
              <a:rPr lang="en-US" altLang="zh-TW" dirty="0"/>
              <a:t>)</a:t>
            </a:r>
            <a:endParaRPr lang="zh-TW" altLang="zh-TW" dirty="0"/>
          </a:p>
          <a:p>
            <a:r>
              <a:rPr lang="en-US" altLang="zh-TW" sz="2000" b="1" dirty="0" smtClean="0"/>
              <a:t>Format</a:t>
            </a:r>
            <a:endParaRPr lang="en-US" altLang="zh-TW" sz="2000" b="1" dirty="0"/>
          </a:p>
          <a:p>
            <a:pPr lvl="1"/>
            <a:r>
              <a:rPr lang="en-US" altLang="zh-TW" dirty="0" smtClean="0"/>
              <a:t>Show error handling code</a:t>
            </a:r>
          </a:p>
          <a:p>
            <a:pPr lvl="1"/>
            <a:r>
              <a:rPr lang="en-US" altLang="zh-TW" dirty="0" smtClean="0"/>
              <a:t>Comment </a:t>
            </a:r>
            <a:r>
              <a:rPr lang="en-US" altLang="zh-TW" dirty="0"/>
              <a:t>(Suggestion)</a:t>
            </a:r>
          </a:p>
          <a:p>
            <a:pPr lvl="1"/>
            <a:r>
              <a:rPr lang="en-US" altLang="zh-TW" dirty="0"/>
              <a:t>Error (MUST Fixed)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78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Error handling - </a:t>
            </a:r>
            <a:r>
              <a:rPr lang="en-US" altLang="zh-TW" b="1" dirty="0" err="1"/>
              <a:t>WCSSetProcessorInfo</a:t>
            </a:r>
            <a:endParaRPr lang="zh-TW" altLang="zh-TW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0909085"/>
              </p:ext>
            </p:extLst>
          </p:nvPr>
        </p:nvGraphicFramePr>
        <p:xfrm>
          <a:off x="2657790" y="1511300"/>
          <a:ext cx="6024892" cy="328080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024892"/>
              </a:tblGrid>
              <a:tr h="9925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if(</a:t>
                      </a:r>
                      <a:r>
                        <a:rPr lang="en-US" sz="1200" kern="0" dirty="0" err="1">
                          <a:effectLst/>
                        </a:rPr>
                        <a:t>processorID</a:t>
                      </a:r>
                      <a:r>
                        <a:rPr lang="en-US" sz="1200" kern="0" dirty="0">
                          <a:effectLst/>
                        </a:rPr>
                        <a:t> &gt;= WCS_MAX_PROCESSOR){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BMC_CMD_PRINT("%s %d Input data out of range (0-1) ! \r\</a:t>
                      </a:r>
                      <a:r>
                        <a:rPr lang="en-US" sz="1200" kern="0" dirty="0" err="1">
                          <a:effectLst/>
                        </a:rPr>
                        <a:t>n",__FUNCTION__,__LINE</a:t>
                      </a:r>
                      <a:r>
                        <a:rPr lang="en-US" sz="1200" kern="0" dirty="0">
                          <a:effectLst/>
                        </a:rPr>
                        <a:t>__);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pRes</a:t>
                      </a:r>
                      <a:r>
                        <a:rPr lang="en-US" sz="1200" kern="0" dirty="0">
                          <a:effectLst/>
                        </a:rPr>
                        <a:t>[0] = CC_PARAM_OUT_OF_RANGE;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return (</a:t>
                      </a:r>
                      <a:r>
                        <a:rPr lang="en-US" sz="1200" kern="0" dirty="0" err="1">
                          <a:effectLst/>
                        </a:rPr>
                        <a:t>nLen</a:t>
                      </a:r>
                      <a:r>
                        <a:rPr lang="en-US" sz="1200" kern="0" dirty="0">
                          <a:effectLst/>
                        </a:rPr>
                        <a:t>);     // Length of the </a:t>
                      </a:r>
                      <a:r>
                        <a:rPr lang="en-US" sz="1200" kern="0" dirty="0" err="1">
                          <a:effectLst/>
                        </a:rPr>
                        <a:t>bioscode</a:t>
                      </a:r>
                      <a:r>
                        <a:rPr lang="en-US" sz="1200" kern="0" dirty="0">
                          <a:effectLst/>
                        </a:rPr>
                        <a:t> including the completion code        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}</a:t>
                      </a:r>
                      <a:endParaRPr lang="zh-TW" sz="12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1091" marR="21091" marT="0" marB="0"/>
                </a:tc>
              </a:tr>
              <a:tr h="21835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pData</a:t>
                      </a:r>
                      <a:r>
                        <a:rPr lang="en-US" sz="1200" kern="0" dirty="0">
                          <a:effectLst/>
                        </a:rPr>
                        <a:t> = (</a:t>
                      </a:r>
                      <a:r>
                        <a:rPr lang="en-US" sz="1200" kern="0" dirty="0" err="1">
                          <a:effectLst/>
                        </a:rPr>
                        <a:t>WCSWriteEEPROM_T</a:t>
                      </a:r>
                      <a:r>
                        <a:rPr lang="en-US" sz="1200" kern="0" dirty="0">
                          <a:effectLst/>
                        </a:rPr>
                        <a:t>*)</a:t>
                      </a:r>
                      <a:r>
                        <a:rPr lang="en-US" sz="1200" kern="0" dirty="0" err="1">
                          <a:effectLst/>
                        </a:rPr>
                        <a:t>malloc</a:t>
                      </a:r>
                      <a:r>
                        <a:rPr lang="en-US" sz="1200" kern="0" dirty="0">
                          <a:effectLst/>
                        </a:rPr>
                        <a:t>(</a:t>
                      </a:r>
                      <a:r>
                        <a:rPr lang="en-US" sz="1200" kern="0" dirty="0" err="1">
                          <a:effectLst/>
                        </a:rPr>
                        <a:t>sizeof</a:t>
                      </a:r>
                      <a:r>
                        <a:rPr lang="en-US" sz="1200" kern="0" dirty="0">
                          <a:effectLst/>
                        </a:rPr>
                        <a:t>(</a:t>
                      </a:r>
                      <a:r>
                        <a:rPr lang="en-US" sz="1200" kern="0" dirty="0" err="1">
                          <a:effectLst/>
                        </a:rPr>
                        <a:t>WCSWriteEEPROM_T</a:t>
                      </a:r>
                      <a:r>
                        <a:rPr lang="en-US" sz="1200" kern="0" dirty="0">
                          <a:effectLst/>
                        </a:rPr>
                        <a:t>));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if(!</a:t>
                      </a:r>
                      <a:r>
                        <a:rPr lang="en-US" sz="1200" kern="0" dirty="0" err="1">
                          <a:effectLst/>
                        </a:rPr>
                        <a:t>pData</a:t>
                      </a:r>
                      <a:r>
                        <a:rPr lang="en-US" sz="1200" kern="0" dirty="0">
                          <a:effectLst/>
                        </a:rPr>
                        <a:t>){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printf</a:t>
                      </a:r>
                      <a:r>
                        <a:rPr lang="en-US" sz="1200" kern="0" dirty="0">
                          <a:effectLst/>
                        </a:rPr>
                        <a:t>("%s %d </a:t>
                      </a:r>
                      <a:r>
                        <a:rPr lang="en-US" sz="1200" kern="0" dirty="0" err="1">
                          <a:effectLst/>
                        </a:rPr>
                        <a:t>malloc</a:t>
                      </a:r>
                      <a:r>
                        <a:rPr lang="en-US" sz="1200" kern="0" dirty="0">
                          <a:effectLst/>
                        </a:rPr>
                        <a:t> fail!!\n",__</a:t>
                      </a:r>
                      <a:r>
                        <a:rPr lang="en-US" sz="1200" kern="0" dirty="0" err="1">
                          <a:effectLst/>
                        </a:rPr>
                        <a:t>func</a:t>
                      </a:r>
                      <a:r>
                        <a:rPr lang="en-US" sz="1200" kern="0" dirty="0">
                          <a:effectLst/>
                        </a:rPr>
                        <a:t>__,__LINE__);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}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else{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pData</a:t>
                      </a:r>
                      <a:r>
                        <a:rPr lang="en-US" sz="1200" kern="0" dirty="0">
                          <a:effectLst/>
                        </a:rPr>
                        <a:t>-&gt;offset = PROCESSOR_INFO_EEPROM_STORAGE + 16*</a:t>
                      </a:r>
                      <a:r>
                        <a:rPr lang="en-US" sz="1200" kern="0" dirty="0" err="1">
                          <a:effectLst/>
                        </a:rPr>
                        <a:t>processorID</a:t>
                      </a:r>
                      <a:r>
                        <a:rPr lang="en-US" sz="1200" kern="0" dirty="0">
                          <a:effectLst/>
                        </a:rPr>
                        <a:t>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pData</a:t>
                      </a:r>
                      <a:r>
                        <a:rPr lang="en-US" sz="1200" kern="0" dirty="0">
                          <a:effectLst/>
                        </a:rPr>
                        <a:t>-&gt;length = 6;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memcpy</a:t>
                      </a:r>
                      <a:r>
                        <a:rPr lang="en-US" sz="1200" kern="0" dirty="0">
                          <a:effectLst/>
                        </a:rPr>
                        <a:t>(</a:t>
                      </a:r>
                      <a:r>
                        <a:rPr lang="en-US" sz="1200" kern="0" dirty="0" err="1">
                          <a:effectLst/>
                        </a:rPr>
                        <a:t>pData</a:t>
                      </a:r>
                      <a:r>
                        <a:rPr lang="en-US" sz="1200" kern="0" dirty="0">
                          <a:effectLst/>
                        </a:rPr>
                        <a:t>-&gt;data, </a:t>
                      </a:r>
                      <a:r>
                        <a:rPr lang="en-US" sz="1200" kern="0" dirty="0" err="1">
                          <a:effectLst/>
                        </a:rPr>
                        <a:t>pReq</a:t>
                      </a:r>
                      <a:r>
                        <a:rPr lang="en-US" sz="1200" kern="0" dirty="0">
                          <a:effectLst/>
                        </a:rPr>
                        <a:t>, 5);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pData</a:t>
                      </a:r>
                      <a:r>
                        <a:rPr lang="en-US" sz="1200" kern="0" dirty="0">
                          <a:effectLst/>
                        </a:rPr>
                        <a:t>-&gt;data[5] = OEM_SET_FLAG;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OS_CREATE_THREAD(</a:t>
                      </a:r>
                      <a:r>
                        <a:rPr lang="en-US" sz="1200" kern="0" dirty="0" err="1">
                          <a:effectLst/>
                        </a:rPr>
                        <a:t>WriteEEPROMTask</a:t>
                      </a:r>
                      <a:r>
                        <a:rPr lang="en-US" sz="1200" kern="0" dirty="0">
                          <a:effectLst/>
                        </a:rPr>
                        <a:t>, (void*)</a:t>
                      </a:r>
                      <a:r>
                        <a:rPr lang="en-US" sz="1200" kern="0" dirty="0" err="1">
                          <a:effectLst/>
                        </a:rPr>
                        <a:t>pData</a:t>
                      </a:r>
                      <a:r>
                        <a:rPr lang="en-US" sz="1200" kern="0" dirty="0">
                          <a:effectLst/>
                        </a:rPr>
                        <a:t>, 0);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}</a:t>
                      </a:r>
                      <a:endParaRPr lang="zh-TW" sz="12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1091" marR="21091" marT="0" marB="0"/>
                </a:tc>
              </a:tr>
            </a:tbl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657790" y="1511300"/>
            <a:ext cx="3141648" cy="19393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51379" y="2797587"/>
            <a:ext cx="690891" cy="20054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2523309" y="4863373"/>
            <a:ext cx="8915400" cy="117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zh-TW" b="1" u="sng" dirty="0" smtClean="0"/>
              <a:t>comment</a:t>
            </a:r>
            <a:r>
              <a:rPr lang="en-US" altLang="zh-TW" b="1" u="sng" dirty="0"/>
              <a:t>(Suggestion</a:t>
            </a:r>
            <a:r>
              <a:rPr lang="en-US" altLang="zh-TW" b="1" u="sng" dirty="0" smtClean="0"/>
              <a:t>):</a:t>
            </a:r>
            <a:endParaRPr lang="en-US" altLang="zh-TW" b="1" u="sng" dirty="0" smtClean="0"/>
          </a:p>
          <a:p>
            <a:pPr marL="0" indent="0">
              <a:buNone/>
            </a:pPr>
            <a:r>
              <a:rPr lang="en-US" altLang="zh-TW" sz="1600" dirty="0"/>
              <a:t> </a:t>
            </a:r>
            <a:r>
              <a:rPr lang="en-US" altLang="zh-TW" sz="1600" dirty="0" smtClean="0"/>
              <a:t>      Work </a:t>
            </a:r>
            <a:r>
              <a:rPr lang="en-US" altLang="zh-TW" sz="1600" dirty="0"/>
              <a:t>as design</a:t>
            </a:r>
            <a:endParaRPr lang="zh-TW" altLang="zh-TW" sz="1600" dirty="0"/>
          </a:p>
          <a:p>
            <a:r>
              <a:rPr lang="en-US" altLang="zh-TW" sz="1600" b="1" u="heavy" dirty="0" smtClean="0"/>
              <a:t>Error (MUST Fixed):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600" dirty="0" smtClean="0"/>
              <a:t>        </a:t>
            </a:r>
            <a:r>
              <a:rPr lang="en-US" altLang="zh-TW" sz="1600" u="heavy" dirty="0" smtClean="0"/>
              <a:t>N/A</a:t>
            </a:r>
            <a:endParaRPr lang="en-US" altLang="zh-TW" sz="160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130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Example 2: </a:t>
            </a:r>
            <a:r>
              <a:rPr lang="en-US" altLang="zh-TW" b="1" dirty="0"/>
              <a:t>5.39 Get Memory Info</a:t>
            </a:r>
            <a:endParaRPr lang="zh-TW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342003"/>
              </p:ext>
            </p:extLst>
          </p:nvPr>
        </p:nvGraphicFramePr>
        <p:xfrm>
          <a:off x="2592925" y="2120424"/>
          <a:ext cx="6438900" cy="3562350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5068264"/>
                <a:gridCol w="735636"/>
                <a:gridCol w="635000"/>
              </a:tblGrid>
              <a:tr h="2095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FUNCTION/FEATURE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checked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Remark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F-1. Check all variables initialized before using.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F-2. Check there are no unused variables.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F-3. Check the codes match the specification function feature.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F-4. Check the code can be modified simpler.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41910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F-5. Check code used appropriate, include algorithms, data structures, types, templates, libraries, RTOS functions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ERROR HANDLING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E-1. Check the input parameters have correct type.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E-2. Check the error return codes had been handle properly.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E-3. Check the negative numbers handled properly.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E-4. Check the pointers usage properly.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41910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E-5. Check the condition (if/switch) statements have a default clause used for error detection.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E-6. Check index of the arrays to not occur out of range value.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E-7. Check the memory leak (memory free properly).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E-8. Check the overflow/underflow for mathematical.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Y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592925" y="5898198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＊</a:t>
            </a:r>
            <a:r>
              <a:rPr lang="en-US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--&gt;If there is a ‘</a:t>
            </a:r>
            <a:r>
              <a:rPr lang="zh-TW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＊</a:t>
            </a:r>
            <a:r>
              <a:rPr lang="en-US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’in remark box, it indicates that there is an error which needs to be fixed. </a:t>
            </a:r>
            <a:endParaRPr lang="zh-TW" altLang="zh-TW" sz="1600" kern="100" dirty="0" smtClean="0"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TW" sz="1600" dirty="0" smtClean="0">
                <a:highlight>
                  <a:srgbClr val="FFFF00"/>
                </a:highlight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TW" sz="1600" dirty="0" smtClean="0">
                <a:highlight>
                  <a:srgbClr val="FFFF00"/>
                </a:highlight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zh-TW" altLang="en-US" sz="1600" dirty="0"/>
          </a:p>
        </p:txBody>
      </p:sp>
      <p:sp>
        <p:nvSpPr>
          <p:cNvPr id="5" name="矩形 4"/>
          <p:cNvSpPr/>
          <p:nvPr/>
        </p:nvSpPr>
        <p:spPr>
          <a:xfrm>
            <a:off x="2592925" y="1687705"/>
            <a:ext cx="2056928" cy="37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TW" sz="1600" b="1" kern="100" dirty="0" smtClean="0">
                <a:ea typeface="新細明體"/>
                <a:cs typeface="Times New Roman"/>
              </a:rPr>
              <a:t>Review Items</a:t>
            </a:r>
            <a:endParaRPr lang="zh-TW" altLang="zh-TW" sz="1600" b="1" kern="100" dirty="0"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809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Review function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b="1" dirty="0" smtClean="0"/>
              <a:t>List all reviewed functions and file path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SetDefaultMemmoryThread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src</a:t>
            </a:r>
            <a:r>
              <a:rPr lang="en-US" altLang="zh-TW" dirty="0" smtClean="0"/>
              <a:t>/libraries/libipmiwcs-1.0.0/</a:t>
            </a:r>
            <a:r>
              <a:rPr lang="en-US" altLang="zh-TW" dirty="0" err="1" smtClean="0"/>
              <a:t>WCSCore.c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WCSSetMemoryInfo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src</a:t>
            </a:r>
            <a:r>
              <a:rPr lang="en-US" altLang="zh-TW" dirty="0" smtClean="0"/>
              <a:t>/libraries/libipmiwcs-1.0.0/</a:t>
            </a:r>
            <a:r>
              <a:rPr lang="en-US" altLang="zh-TW" dirty="0" err="1" smtClean="0"/>
              <a:t>WCSCmds.c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NVDIMMInit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src</a:t>
            </a:r>
            <a:r>
              <a:rPr lang="en-US" altLang="zh-TW" dirty="0" smtClean="0"/>
              <a:t>/libraries/libipmiwcs-1.0.0/</a:t>
            </a:r>
            <a:r>
              <a:rPr lang="en-US" altLang="zh-TW" dirty="0" err="1" smtClean="0"/>
              <a:t>WCSCore.c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r>
              <a:rPr lang="en-US" altLang="zh-TW" sz="2000" b="1" dirty="0" smtClean="0"/>
              <a:t>Content Format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Comment (Suggestion)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Error (MUST Fixed)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396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/>
              <a:t>Review </a:t>
            </a:r>
            <a:r>
              <a:rPr lang="en-US" altLang="zh-TW" sz="2800" b="1" dirty="0" smtClean="0"/>
              <a:t>function – </a:t>
            </a:r>
            <a:r>
              <a:rPr lang="en-US" altLang="zh-TW" sz="2800" b="1" dirty="0" err="1" smtClean="0"/>
              <a:t>SetDefaultMemmoryThread</a:t>
            </a:r>
            <a:r>
              <a:rPr lang="en-US" altLang="zh-TW" sz="2800" b="1" dirty="0" smtClean="0"/>
              <a:t>(1/2) </a:t>
            </a:r>
            <a:endParaRPr lang="zh-TW" altLang="en-US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768" y="2341049"/>
            <a:ext cx="4962525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2647768" y="1751507"/>
            <a:ext cx="7937853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TW" sz="1400" kern="100" dirty="0">
                <a:solidFill>
                  <a:srgbClr val="000000"/>
                </a:solidFill>
                <a:ea typeface="Times New Roman"/>
                <a:cs typeface="Arial"/>
              </a:rPr>
              <a:t>The functions </a:t>
            </a:r>
            <a:r>
              <a:rPr lang="en-US" altLang="zh-TW" sz="1400" kern="100" dirty="0" smtClean="0">
                <a:solidFill>
                  <a:srgbClr val="000000"/>
                </a:solidFill>
                <a:ea typeface="Times New Roman"/>
                <a:cs typeface="Arial"/>
              </a:rPr>
              <a:t>is </a:t>
            </a:r>
            <a:r>
              <a:rPr lang="en-US" altLang="zh-TW" sz="1400" kern="100" dirty="0">
                <a:solidFill>
                  <a:srgbClr val="000000"/>
                </a:solidFill>
                <a:ea typeface="Times New Roman"/>
                <a:cs typeface="Arial"/>
              </a:rPr>
              <a:t>reviewed </a:t>
            </a:r>
            <a:r>
              <a:rPr lang="en-US" altLang="zh-TW" sz="1400" dirty="0"/>
              <a:t>WCS_MAX_DIMM_SLOT</a:t>
            </a:r>
            <a:r>
              <a:rPr lang="en-US" altLang="zh-TW" sz="1400" kern="100" dirty="0" smtClean="0">
                <a:solidFill>
                  <a:srgbClr val="000000"/>
                </a:solidFill>
                <a:ea typeface="Times New Roman"/>
                <a:cs typeface="Arial"/>
              </a:rPr>
              <a:t> , </a:t>
            </a:r>
            <a:r>
              <a:rPr lang="en-US" altLang="zh-TW" sz="1400" dirty="0" smtClean="0"/>
              <a:t>OEM_SET_FLAG and NOT_PRESENT </a:t>
            </a:r>
            <a:r>
              <a:rPr lang="en-US" altLang="zh-TW" sz="1400" kern="100" dirty="0" smtClean="0">
                <a:solidFill>
                  <a:srgbClr val="000000"/>
                </a:solidFill>
                <a:ea typeface="Times New Roman"/>
                <a:cs typeface="Arial"/>
              </a:rPr>
              <a:t>are </a:t>
            </a:r>
            <a:r>
              <a:rPr lang="en-US" altLang="zh-TW" sz="1400" kern="100" dirty="0">
                <a:solidFill>
                  <a:srgbClr val="000000"/>
                </a:solidFill>
                <a:ea typeface="Times New Roman"/>
                <a:cs typeface="Arial"/>
              </a:rPr>
              <a:t>the detailed review result for each </a:t>
            </a:r>
            <a:r>
              <a:rPr lang="en-US" altLang="zh-TW" sz="1400" kern="100" dirty="0" smtClean="0">
                <a:solidFill>
                  <a:srgbClr val="000000"/>
                </a:solidFill>
                <a:ea typeface="Times New Roman"/>
                <a:cs typeface="Arial"/>
              </a:rPr>
              <a:t>comments:</a:t>
            </a:r>
            <a:endParaRPr lang="zh-TW" altLang="zh-TW" sz="1400" kern="100" dirty="0">
              <a:ea typeface="新細明體"/>
              <a:cs typeface="Times New Roman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71568" y="3806623"/>
            <a:ext cx="3303371" cy="1329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4144620" y="3638347"/>
            <a:ext cx="288925" cy="1682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3271708" y="4713190"/>
            <a:ext cx="3400941" cy="1192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內容版面配置區 2"/>
          <p:cNvSpPr>
            <a:spLocks noGrp="1"/>
          </p:cNvSpPr>
          <p:nvPr>
            <p:ph idx="1"/>
          </p:nvPr>
        </p:nvSpPr>
        <p:spPr>
          <a:xfrm>
            <a:off x="2647768" y="5428838"/>
            <a:ext cx="8915400" cy="1429161"/>
          </a:xfrm>
        </p:spPr>
        <p:txBody>
          <a:bodyPr>
            <a:normAutofit/>
          </a:bodyPr>
          <a:lstStyle/>
          <a:p>
            <a:r>
              <a:rPr lang="en-US" altLang="zh-TW" sz="1400" b="1" u="sng" dirty="0" smtClean="0"/>
              <a:t>Comment</a:t>
            </a:r>
            <a:r>
              <a:rPr lang="en-US" altLang="zh-TW" sz="1400" b="1" u="sng" dirty="0"/>
              <a:t>(Suggestion</a:t>
            </a:r>
            <a:r>
              <a:rPr lang="en-US" altLang="zh-TW" sz="1400" b="1" u="sng" dirty="0" smtClean="0"/>
              <a:t>):</a:t>
            </a:r>
            <a:endParaRPr lang="en-US" altLang="zh-TW" sz="1400" b="1" u="sng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1400" dirty="0" smtClean="0"/>
              <a:t>Recommend </a:t>
            </a:r>
            <a:r>
              <a:rPr lang="en-US" altLang="zh-TW" sz="1400" dirty="0"/>
              <a:t>to replace 16 with macro defined WCS_MAX_DIMM_SLOT.</a:t>
            </a:r>
            <a:endParaRPr lang="zh-TW" altLang="zh-TW" sz="1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1400" dirty="0"/>
              <a:t>We initialize DIMM type and status as 0x3f and 0x3 in </a:t>
            </a:r>
            <a:r>
              <a:rPr lang="en-US" altLang="zh-TW" sz="1400" dirty="0" err="1"/>
              <a:t>WCSInit</a:t>
            </a:r>
            <a:r>
              <a:rPr lang="en-US" altLang="zh-TW" sz="1400" dirty="0"/>
              <a:t>(). Recommend to write DIMM type and status to EEPROM as 0x3f and 0x3 instead of 0 when </a:t>
            </a:r>
            <a:r>
              <a:rPr lang="en-US" altLang="zh-TW" sz="1400" dirty="0" err="1"/>
              <a:t>MemPresent.Data</a:t>
            </a:r>
            <a:r>
              <a:rPr lang="en-US" altLang="zh-TW" sz="1400" dirty="0"/>
              <a:t>[3] != OEM_SET_FLAG.</a:t>
            </a:r>
            <a:endParaRPr lang="zh-TW" altLang="zh-TW" sz="1400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6103298" y="2872609"/>
            <a:ext cx="3090129" cy="79431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zh-TW" altLang="en-US" sz="2000" b="1" dirty="0" smtClean="0">
                <a:solidFill>
                  <a:srgbClr val="FF0000"/>
                </a:solidFill>
                <a:latin typeface="+mn-ea"/>
              </a:rPr>
              <a:t>改</a:t>
            </a:r>
            <a:r>
              <a:rPr lang="zh-TW" altLang="en-US" sz="2000" b="1" dirty="0">
                <a:solidFill>
                  <a:srgbClr val="FF0000"/>
                </a:solidFill>
                <a:latin typeface="+mn-ea"/>
              </a:rPr>
              <a:t>成</a:t>
            </a:r>
            <a:r>
              <a:rPr kumimoji="0" lang="zh-TW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WCS_MAX_DIMM_SLOT</a:t>
            </a:r>
            <a:endParaRPr kumimoji="0" lang="zh-TW" altLang="zh-TW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4433545" y="3365722"/>
            <a:ext cx="1671276" cy="272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8633433" y="3844171"/>
            <a:ext cx="2652405" cy="79431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kumimoji="0" lang="en-US" altLang="zh-TW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DIMM</a:t>
            </a:r>
            <a:r>
              <a:rPr kumimoji="0" lang="en-US" altLang="zh-TW" sz="2000" b="1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TYPE = 0X3F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zh-TW" sz="2000" b="1" baseline="0" dirty="0" smtClean="0">
                <a:solidFill>
                  <a:srgbClr val="FF0000"/>
                </a:solidFill>
              </a:rPr>
              <a:t>DIMM STATUS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 = 0X3</a:t>
            </a:r>
            <a:endParaRPr kumimoji="0" lang="zh-TW" altLang="zh-TW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cxnSp>
        <p:nvCxnSpPr>
          <p:cNvPr id="13" name="直線單箭頭接點 12"/>
          <p:cNvCxnSpPr>
            <a:endCxn id="12" idx="1"/>
          </p:cNvCxnSpPr>
          <p:nvPr/>
        </p:nvCxnSpPr>
        <p:spPr>
          <a:xfrm>
            <a:off x="6474939" y="3888259"/>
            <a:ext cx="2158494" cy="353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6672649" y="4399005"/>
            <a:ext cx="1853513" cy="314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4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/>
              <a:t>Review function </a:t>
            </a:r>
            <a:r>
              <a:rPr lang="en-US" altLang="zh-TW" sz="2800" b="1" dirty="0" smtClean="0"/>
              <a:t>– </a:t>
            </a:r>
            <a:r>
              <a:rPr lang="en-US" altLang="zh-TW" sz="2800" b="1" dirty="0" err="1" smtClean="0"/>
              <a:t>SetDefaultMemmoryThread</a:t>
            </a:r>
            <a:r>
              <a:rPr lang="en-US" altLang="zh-TW" sz="2800" b="1" dirty="0" smtClean="0"/>
              <a:t>(2/2) </a:t>
            </a:r>
            <a:endParaRPr lang="zh-TW" altLang="en-US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133600"/>
            <a:ext cx="54483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內容版面配置區 2"/>
          <p:cNvSpPr txBox="1">
            <a:spLocks/>
          </p:cNvSpPr>
          <p:nvPr/>
        </p:nvSpPr>
        <p:spPr>
          <a:xfrm>
            <a:off x="2589212" y="3390284"/>
            <a:ext cx="8915400" cy="15029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zh-TW" b="1" u="sng" dirty="0" smtClean="0"/>
              <a:t>Comment</a:t>
            </a:r>
            <a:r>
              <a:rPr lang="en-US" altLang="zh-TW" b="1" u="sng" dirty="0"/>
              <a:t>(Suggestion</a:t>
            </a:r>
            <a:r>
              <a:rPr lang="en-US" altLang="zh-TW" b="1" u="sng" dirty="0" smtClean="0"/>
              <a:t>):</a:t>
            </a:r>
            <a:endParaRPr lang="en-US" altLang="zh-TW" b="1" u="sng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Recommend </a:t>
            </a:r>
            <a:r>
              <a:rPr lang="en-US" altLang="zh-TW" dirty="0"/>
              <a:t>to replace 0x3 with macro defined NOT_PRESENT like WCS Spec. In </a:t>
            </a:r>
            <a:r>
              <a:rPr lang="en-US" altLang="zh-TW" dirty="0" err="1"/>
              <a:t>WCSInit</a:t>
            </a:r>
            <a:r>
              <a:rPr lang="en-US" altLang="zh-TW" dirty="0"/>
              <a:t> function</a:t>
            </a:r>
            <a:endParaRPr lang="zh-TW" altLang="zh-TW" dirty="0"/>
          </a:p>
          <a:p>
            <a:pPr lvl="0"/>
            <a:r>
              <a:rPr lang="en-US" altLang="zh-TW" sz="1600" b="1" u="heavy" dirty="0"/>
              <a:t>Error (MUST Fixed</a:t>
            </a:r>
            <a:r>
              <a:rPr lang="en-US" altLang="zh-TW" sz="1600" b="1" u="heavy" dirty="0" smtClean="0"/>
              <a:t>):</a:t>
            </a:r>
          </a:p>
          <a:p>
            <a:pPr marL="0" lvl="0" indent="0">
              <a:buNone/>
            </a:pPr>
            <a:r>
              <a:rPr lang="en-US" altLang="zh-TW" sz="1600" dirty="0"/>
              <a:t> </a:t>
            </a:r>
            <a:r>
              <a:rPr lang="en-US" altLang="zh-TW" sz="1600" dirty="0" smtClean="0"/>
              <a:t>       </a:t>
            </a:r>
            <a:r>
              <a:rPr lang="en-US" altLang="zh-TW" sz="1600" u="heavy" dirty="0" smtClean="0"/>
              <a:t>N/A</a:t>
            </a:r>
            <a:endParaRPr lang="en-US" altLang="zh-TW" sz="1600" dirty="0" smtClean="0"/>
          </a:p>
          <a:p>
            <a:pPr marL="0" indent="0">
              <a:buFont typeface="Wingdings 3" charset="2"/>
              <a:buNone/>
            </a:pPr>
            <a:endParaRPr lang="zh-TW" altLang="en-US" sz="16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025081" y="2479367"/>
            <a:ext cx="181233" cy="17321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28228" y="1670386"/>
            <a:ext cx="1920355" cy="79431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zh-TW" altLang="en-US" sz="2000" b="1" dirty="0" smtClean="0">
                <a:solidFill>
                  <a:srgbClr val="FF0000"/>
                </a:solidFill>
                <a:latin typeface="+mn-ea"/>
              </a:rPr>
              <a:t>改</a:t>
            </a:r>
            <a:r>
              <a:rPr lang="zh-TW" altLang="en-US" sz="2000" b="1" dirty="0">
                <a:solidFill>
                  <a:srgbClr val="FF0000"/>
                </a:solidFill>
                <a:latin typeface="+mn-ea"/>
              </a:rPr>
              <a:t>成</a:t>
            </a:r>
            <a:r>
              <a:rPr kumimoji="0" lang="zh-TW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NOT_PRESENT</a:t>
            </a:r>
            <a:endParaRPr kumimoji="0" lang="zh-TW" altLang="zh-TW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8" name="直線單箭頭接點 7"/>
          <p:cNvCxnSpPr>
            <a:stCxn id="6" idx="3"/>
          </p:cNvCxnSpPr>
          <p:nvPr/>
        </p:nvCxnSpPr>
        <p:spPr>
          <a:xfrm flipV="1">
            <a:off x="5206314" y="2163499"/>
            <a:ext cx="1623437" cy="402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76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Review function - </a:t>
            </a:r>
            <a:r>
              <a:rPr lang="en-US" altLang="zh-TW" b="1" dirty="0" err="1"/>
              <a:t>WCSSetMemoryInfo</a:t>
            </a:r>
            <a:r>
              <a:rPr lang="en-US" altLang="zh-TW" b="1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4930602"/>
            <a:ext cx="8915400" cy="1569052"/>
          </a:xfrm>
        </p:spPr>
        <p:txBody>
          <a:bodyPr>
            <a:noAutofit/>
          </a:bodyPr>
          <a:lstStyle/>
          <a:p>
            <a:pPr marL="342900" lvl="1" indent="-342900"/>
            <a:r>
              <a:rPr lang="en-US" altLang="zh-TW" b="1" dirty="0" smtClean="0"/>
              <a:t>Comment</a:t>
            </a:r>
            <a:r>
              <a:rPr lang="en-US" altLang="zh-TW" b="1" dirty="0"/>
              <a:t>(Suggestion</a:t>
            </a:r>
            <a:r>
              <a:rPr lang="en-US" altLang="zh-TW" b="1" dirty="0" smtClean="0"/>
              <a:t>):</a:t>
            </a:r>
            <a:endParaRPr lang="en-US" altLang="zh-TW" b="1" u="sng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Recommend to replace </a:t>
            </a:r>
            <a:r>
              <a:rPr lang="en-US" altLang="zh-TW" dirty="0" smtClean="0"/>
              <a:t>0x3f </a:t>
            </a:r>
            <a:r>
              <a:rPr lang="en-US" altLang="zh-TW" dirty="0"/>
              <a:t>with macro defined NOT_PRESENT like WCS Spec. In </a:t>
            </a:r>
            <a:r>
              <a:rPr lang="en-US" altLang="zh-TW" dirty="0" err="1"/>
              <a:t>WCSInit</a:t>
            </a:r>
            <a:r>
              <a:rPr lang="en-US" altLang="zh-TW" dirty="0"/>
              <a:t> function</a:t>
            </a:r>
            <a:endParaRPr lang="zh-TW" altLang="zh-TW" dirty="0"/>
          </a:p>
          <a:p>
            <a:pPr lvl="0"/>
            <a:r>
              <a:rPr lang="en-US" altLang="zh-TW" sz="1600" b="1" u="heavy" dirty="0"/>
              <a:t>Error (MUST Fixed):</a:t>
            </a:r>
          </a:p>
          <a:p>
            <a:pPr marL="0" lvl="0" indent="0">
              <a:buNone/>
            </a:pPr>
            <a:r>
              <a:rPr lang="en-US" altLang="zh-TW" sz="1600" dirty="0"/>
              <a:t>        </a:t>
            </a:r>
            <a:r>
              <a:rPr lang="en-US" altLang="zh-TW" sz="1600" u="heavy" dirty="0"/>
              <a:t>N/A</a:t>
            </a:r>
            <a:endParaRPr lang="en-US" altLang="zh-TW" sz="1600" dirty="0"/>
          </a:p>
          <a:p>
            <a:endParaRPr lang="zh-TW" alt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945817"/>
            <a:ext cx="61245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589212" y="2179551"/>
            <a:ext cx="7937853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Arial"/>
              </a:rPr>
              <a:t>The functions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is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Arial"/>
              </a:rPr>
              <a:t>reviewed </a:t>
            </a:r>
            <a:r>
              <a:rPr lang="en-US" altLang="zh-TW" sz="1600" dirty="0" smtClean="0">
                <a:solidFill>
                  <a:srgbClr val="FF0000"/>
                </a:solidFill>
              </a:rPr>
              <a:t>NOT_PRESENT</a:t>
            </a:r>
            <a:r>
              <a:rPr lang="en-US" altLang="zh-TW" sz="1600" dirty="0" smtClean="0"/>
              <a:t> is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Arial"/>
              </a:rPr>
              <a:t>the detailed review result for each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comments:</a:t>
            </a:r>
            <a:endParaRPr lang="zh-TW" altLang="zh-TW" sz="1600" kern="100" dirty="0">
              <a:ea typeface="新細明體"/>
              <a:cs typeface="Times New Roman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777946" y="3035275"/>
            <a:ext cx="255373" cy="1549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157742" y="2558923"/>
            <a:ext cx="1920355" cy="79431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zh-TW" altLang="en-US" sz="2000" b="1" dirty="0" smtClean="0">
                <a:solidFill>
                  <a:srgbClr val="FF0000"/>
                </a:solidFill>
                <a:latin typeface="+mn-ea"/>
              </a:rPr>
              <a:t>改</a:t>
            </a:r>
            <a:r>
              <a:rPr lang="zh-TW" altLang="en-US" sz="2000" b="1" dirty="0">
                <a:solidFill>
                  <a:srgbClr val="FF0000"/>
                </a:solidFill>
                <a:latin typeface="+mn-ea"/>
              </a:rPr>
              <a:t>成</a:t>
            </a:r>
            <a:r>
              <a:rPr kumimoji="0" lang="zh-TW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NOT_PRESENT</a:t>
            </a:r>
            <a:r>
              <a:rPr kumimoji="0" lang="en-US" altLang="zh-TW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;</a:t>
            </a:r>
            <a:endParaRPr kumimoji="0" lang="zh-TW" altLang="zh-TW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8" name="直線單箭頭接點 7"/>
          <p:cNvCxnSpPr>
            <a:stCxn id="6" idx="3"/>
          </p:cNvCxnSpPr>
          <p:nvPr/>
        </p:nvCxnSpPr>
        <p:spPr>
          <a:xfrm flipV="1">
            <a:off x="5033319" y="3052036"/>
            <a:ext cx="2125946" cy="60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15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Review function - </a:t>
            </a:r>
            <a:r>
              <a:rPr lang="en-US" altLang="zh-TW" b="1" dirty="0" err="1" smtClean="0"/>
              <a:t>NVDIMMInit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5362252"/>
            <a:ext cx="8915400" cy="1495748"/>
          </a:xfrm>
        </p:spPr>
        <p:txBody>
          <a:bodyPr>
            <a:normAutofit fontScale="77500" lnSpcReduction="20000"/>
          </a:bodyPr>
          <a:lstStyle/>
          <a:p>
            <a:pPr marL="342900" lvl="1" indent="-342900"/>
            <a:r>
              <a:rPr lang="en-US" altLang="zh-TW" sz="2100" b="1" u="sng" dirty="0" smtClean="0"/>
              <a:t>comment</a:t>
            </a:r>
            <a:r>
              <a:rPr lang="en-US" altLang="zh-TW" sz="2100" b="1" u="sng" dirty="0"/>
              <a:t>(Suggestion</a:t>
            </a:r>
            <a:r>
              <a:rPr lang="en-US" altLang="zh-TW" sz="2100" b="1" u="sng" dirty="0" smtClean="0"/>
              <a:t>):</a:t>
            </a:r>
            <a:endParaRPr lang="en-US" altLang="zh-TW" sz="2100" b="1" u="sng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2100" dirty="0" smtClean="0"/>
              <a:t>Recommend </a:t>
            </a:r>
            <a:r>
              <a:rPr lang="en-US" altLang="zh-TW" sz="2100" dirty="0"/>
              <a:t>to add “break;” after “</a:t>
            </a:r>
            <a:r>
              <a:rPr lang="en-US" altLang="zh-TW" sz="2100" dirty="0" err="1"/>
              <a:t>g_NVflag</a:t>
            </a:r>
            <a:r>
              <a:rPr lang="en-US" altLang="zh-TW" sz="2100" dirty="0"/>
              <a:t>=2;”. Styper2 MB just inserts one kind of NVDIMM in the same time, so it doesn’t affect test result</a:t>
            </a:r>
            <a:r>
              <a:rPr lang="en-US" altLang="zh-TW" sz="2100" dirty="0" smtClean="0"/>
              <a:t>.</a:t>
            </a:r>
          </a:p>
          <a:p>
            <a:pPr lvl="0"/>
            <a:r>
              <a:rPr lang="en-US" altLang="zh-TW" sz="2100" b="1" u="heavy" dirty="0"/>
              <a:t>Error (MUST Fixed):</a:t>
            </a:r>
          </a:p>
          <a:p>
            <a:pPr marL="0" lvl="0" indent="0">
              <a:buNone/>
            </a:pPr>
            <a:r>
              <a:rPr lang="en-US" altLang="zh-TW" sz="2100" dirty="0"/>
              <a:t>        </a:t>
            </a:r>
            <a:r>
              <a:rPr lang="en-US" altLang="zh-TW" sz="2100" u="heavy" dirty="0"/>
              <a:t>N/A</a:t>
            </a:r>
            <a:endParaRPr lang="en-US" altLang="zh-TW" sz="2100" dirty="0"/>
          </a:p>
          <a:p>
            <a:pPr lvl="1">
              <a:buFont typeface="Wingdings" panose="05000000000000000000" pitchFamily="2" charset="2"/>
              <a:buChar char="ü"/>
            </a:pP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125067"/>
            <a:ext cx="530542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490357" y="1537214"/>
            <a:ext cx="7937853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Arial"/>
              </a:rPr>
              <a:t>The functions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is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Arial"/>
              </a:rPr>
              <a:t>reviewed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parameter </a:t>
            </a:r>
            <a:r>
              <a:rPr lang="en-US" altLang="zh-TW" sz="1600" kern="100" dirty="0" err="1" smtClean="0">
                <a:solidFill>
                  <a:srgbClr val="FF0000"/>
                </a:solidFill>
                <a:ea typeface="Times New Roman"/>
                <a:cs typeface="Arial"/>
              </a:rPr>
              <a:t>g_Nvflag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 </a:t>
            </a:r>
            <a:r>
              <a:rPr lang="en-US" altLang="zh-TW" sz="1600" dirty="0" smtClean="0"/>
              <a:t>is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Arial"/>
              </a:rPr>
              <a:t>the detailed review result for each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Arial"/>
              </a:rPr>
              <a:t>comments:</a:t>
            </a:r>
            <a:endParaRPr lang="zh-TW" altLang="zh-TW" sz="1600" kern="100" dirty="0">
              <a:ea typeface="新細明體"/>
              <a:cs typeface="Times New Roman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47558" y="3098069"/>
            <a:ext cx="1080097" cy="79431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tabLst/>
            </a:pPr>
            <a:r>
              <a:rPr kumimoji="0" lang="zh-TW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少加了 </a:t>
            </a:r>
            <a:r>
              <a:rPr kumimoji="0" lang="en-US" altLang="zh-TW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break;</a:t>
            </a:r>
            <a:endParaRPr kumimoji="0" lang="zh-TW" altLang="zh-TW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64474" y="4226012"/>
            <a:ext cx="1050325" cy="271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圖案 8"/>
          <p:cNvCxnSpPr>
            <a:stCxn id="7" idx="1"/>
            <a:endCxn id="4" idx="2"/>
          </p:cNvCxnSpPr>
          <p:nvPr/>
        </p:nvCxnSpPr>
        <p:spPr>
          <a:xfrm rot="10800000">
            <a:off x="1387608" y="3892380"/>
            <a:ext cx="1676867" cy="46955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05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Error handling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reviewed functions and file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SetDefaultMemmoryThread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/libraries/libipmiwcs-1.0.0/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WCSCore.c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WCSSetMemoryInfo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/libraries/libipmiwcs-1.0.0/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WCSCmds.c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error handling code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(Suggestion)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(MUST Fixed)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1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Error </a:t>
            </a:r>
            <a:r>
              <a:rPr lang="en-US" altLang="zh-TW" b="1" dirty="0" smtClean="0"/>
              <a:t>handling - </a:t>
            </a:r>
            <a:r>
              <a:rPr lang="en-US" altLang="zh-TW" b="1" dirty="0" err="1" smtClean="0"/>
              <a:t>SetDefaultMemmoryThread</a:t>
            </a:r>
            <a:r>
              <a:rPr lang="zh-TW" altLang="zh-TW" dirty="0"/>
              <a:t/>
            </a:r>
            <a:br>
              <a:rPr lang="zh-TW" altLang="zh-TW" dirty="0"/>
            </a:br>
            <a:endParaRPr lang="zh-TW" altLang="en-US" dirty="0"/>
          </a:p>
        </p:txBody>
      </p:sp>
      <p:graphicFrame>
        <p:nvGraphicFramePr>
          <p:cNvPr id="8" name="內容版面配置區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673937"/>
              </p:ext>
            </p:extLst>
          </p:nvPr>
        </p:nvGraphicFramePr>
        <p:xfrm>
          <a:off x="2592925" y="2223478"/>
          <a:ext cx="6257290" cy="20116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257290"/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WCSReadWriteEEprom</a:t>
                      </a:r>
                      <a:r>
                        <a:rPr lang="en-US" sz="1200" kern="0" dirty="0">
                          <a:effectLst/>
                        </a:rPr>
                        <a:t>(MemoryInfo,7,&amp;res,0,offset, </a:t>
                      </a:r>
                      <a:r>
                        <a:rPr lang="en-US" sz="1200" kern="0" dirty="0" err="1">
                          <a:effectLst/>
                        </a:rPr>
                        <a:t>BMCInst</a:t>
                      </a:r>
                      <a:r>
                        <a:rPr lang="en-US" sz="1200" kern="0" dirty="0">
                          <a:effectLst/>
                        </a:rPr>
                        <a:t>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	if(</a:t>
                      </a:r>
                      <a:r>
                        <a:rPr lang="en-US" sz="1200" kern="0" dirty="0">
                          <a:solidFill>
                            <a:srgbClr val="FF0000"/>
                          </a:solidFill>
                          <a:effectLst/>
                        </a:rPr>
                        <a:t>res!= ret</a:t>
                      </a:r>
                      <a:r>
                        <a:rPr lang="en-US" sz="1200" kern="0" dirty="0">
                          <a:effectLst/>
                        </a:rPr>
                        <a:t>){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BMC_CMD_PRINT("%s %d Request from EEPROM fail ! \r\</a:t>
                      </a:r>
                      <a:r>
                        <a:rPr lang="en-US" sz="1200" kern="0" dirty="0" err="1">
                          <a:effectLst/>
                        </a:rPr>
                        <a:t>n",__FUNCTION__,__LINE</a:t>
                      </a:r>
                      <a:r>
                        <a:rPr lang="en-US" sz="1200" kern="0" dirty="0">
                          <a:effectLst/>
                        </a:rPr>
                        <a:t>__);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}</a:t>
                      </a:r>
                      <a:endParaRPr lang="zh-TW" sz="12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WCSReadWriteEEprom</a:t>
                      </a:r>
                      <a:r>
                        <a:rPr lang="en-US" sz="1200" kern="0" dirty="0">
                          <a:effectLst/>
                        </a:rPr>
                        <a:t>(MemoryPresnt,3,&amp;res,0,MEMORY_PRESENT_EEPROM_STORAGE, </a:t>
                      </a:r>
                      <a:r>
                        <a:rPr lang="en-US" sz="1200" kern="0" dirty="0" err="1">
                          <a:effectLst/>
                        </a:rPr>
                        <a:t>BMCInst</a:t>
                      </a:r>
                      <a:r>
                        <a:rPr lang="en-US" sz="1200" kern="0" dirty="0">
                          <a:effectLst/>
                        </a:rPr>
                        <a:t>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	if(</a:t>
                      </a:r>
                      <a:r>
                        <a:rPr lang="en-US" sz="1200" kern="0" dirty="0">
                          <a:solidFill>
                            <a:srgbClr val="FF0000"/>
                          </a:solidFill>
                          <a:effectLst/>
                        </a:rPr>
                        <a:t>res!= ret</a:t>
                      </a:r>
                      <a:r>
                        <a:rPr lang="en-US" sz="1200" kern="0" dirty="0">
                          <a:effectLst/>
                        </a:rPr>
                        <a:t>){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BMC_CMD_PRINT("%s %d Request from EEPROM fail ! \r\</a:t>
                      </a:r>
                      <a:r>
                        <a:rPr lang="en-US" sz="1200" kern="0" dirty="0" err="1">
                          <a:effectLst/>
                        </a:rPr>
                        <a:t>n",__FUNCTION__,__LINE</a:t>
                      </a:r>
                      <a:r>
                        <a:rPr lang="en-US" sz="1200" kern="0" dirty="0">
                          <a:effectLst/>
                        </a:rPr>
                        <a:t>__);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}</a:t>
                      </a:r>
                      <a:endParaRPr lang="zh-TW" sz="12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72714" y="2397210"/>
            <a:ext cx="832021" cy="22242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072714" y="3519496"/>
            <a:ext cx="832021" cy="14416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" name="內容版面配置區 2"/>
          <p:cNvSpPr txBox="1">
            <a:spLocks/>
          </p:cNvSpPr>
          <p:nvPr/>
        </p:nvSpPr>
        <p:spPr>
          <a:xfrm>
            <a:off x="2589212" y="4408890"/>
            <a:ext cx="8915400" cy="1784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zh-TW" b="1" u="sng" dirty="0" smtClean="0">
                <a:cs typeface="Times New Roman" panose="02020603050405020304" pitchFamily="18" charset="0"/>
              </a:rPr>
              <a:t>comment</a:t>
            </a:r>
            <a:r>
              <a:rPr lang="en-US" altLang="zh-TW" b="1" u="sng" dirty="0">
                <a:cs typeface="Times New Roman" panose="02020603050405020304" pitchFamily="18" charset="0"/>
              </a:rPr>
              <a:t>(Suggestion</a:t>
            </a:r>
            <a:r>
              <a:rPr lang="en-US" altLang="zh-TW" b="1" u="sng" dirty="0" smtClean="0">
                <a:cs typeface="Times New Roman" panose="02020603050405020304" pitchFamily="18" charset="0"/>
              </a:rPr>
              <a:t>):</a:t>
            </a:r>
            <a:endParaRPr lang="en-US" altLang="zh-TW" b="1" u="sng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600" dirty="0">
                <a:cs typeface="Times New Roman" panose="02020603050405020304" pitchFamily="18" charset="0"/>
              </a:rPr>
              <a:t> </a:t>
            </a:r>
            <a:r>
              <a:rPr lang="en-US" altLang="zh-TW" sz="1600" dirty="0" smtClean="0">
                <a:cs typeface="Times New Roman" panose="02020603050405020304" pitchFamily="18" charset="0"/>
              </a:rPr>
              <a:t>      Work </a:t>
            </a:r>
            <a:r>
              <a:rPr lang="en-US" altLang="zh-TW" sz="1600" dirty="0">
                <a:cs typeface="Times New Roman" panose="02020603050405020304" pitchFamily="18" charset="0"/>
              </a:rPr>
              <a:t>as design</a:t>
            </a:r>
            <a:endParaRPr lang="zh-TW" altLang="zh-TW" sz="1600" dirty="0">
              <a:cs typeface="Times New Roman" panose="02020603050405020304" pitchFamily="18" charset="0"/>
            </a:endParaRPr>
          </a:p>
          <a:p>
            <a:r>
              <a:rPr lang="en-US" altLang="zh-TW" sz="1600" b="1" u="heavy" dirty="0" smtClean="0">
                <a:cs typeface="Times New Roman" panose="02020603050405020304" pitchFamily="18" charset="0"/>
              </a:rPr>
              <a:t>Error (MUST Fixed):</a:t>
            </a:r>
          </a:p>
          <a:p>
            <a:pPr marL="0" indent="0">
              <a:buFont typeface="Wingdings 3" charset="2"/>
              <a:buNone/>
            </a:pPr>
            <a:r>
              <a:rPr lang="en-US" altLang="zh-TW" sz="1600" dirty="0" smtClean="0">
                <a:cs typeface="Times New Roman" panose="02020603050405020304" pitchFamily="18" charset="0"/>
              </a:rPr>
              <a:t>        </a:t>
            </a:r>
            <a:r>
              <a:rPr lang="en-US" altLang="zh-TW" sz="1600" u="heavy" dirty="0" smtClean="0">
                <a:cs typeface="Times New Roman" panose="02020603050405020304" pitchFamily="18" charset="0"/>
              </a:rPr>
              <a:t>N/A</a:t>
            </a:r>
            <a:endParaRPr lang="en-US" altLang="zh-TW" sz="1600" dirty="0" smtClean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764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/>
              <a:t>Error handling - </a:t>
            </a:r>
            <a:r>
              <a:rPr lang="en-US" altLang="zh-TW" sz="3200" b="1" dirty="0" err="1"/>
              <a:t>WCSSetMemoryInfo</a:t>
            </a:r>
            <a:endParaRPr lang="zh-TW" altLang="zh-TW" sz="3200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351713"/>
              </p:ext>
            </p:extLst>
          </p:nvPr>
        </p:nvGraphicFramePr>
        <p:xfrm>
          <a:off x="2592925" y="1904998"/>
          <a:ext cx="5776718" cy="31129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76718"/>
              </a:tblGrid>
              <a:tr h="55103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if((DIMMID&gt; WCS_MAX_DIMM_SLOT)||(!DIMMID)){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BMC_CMD_PRINT("%s %d Input data out of range (1-16) ! \r\</a:t>
                      </a:r>
                      <a:r>
                        <a:rPr lang="en-US" sz="1200" kern="0" dirty="0" err="1">
                          <a:effectLst/>
                        </a:rPr>
                        <a:t>n",__FUNCTION__,__LINE</a:t>
                      </a:r>
                      <a:r>
                        <a:rPr lang="en-US" sz="1200" kern="0" dirty="0">
                          <a:effectLst/>
                        </a:rPr>
                        <a:t>__);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pRes</a:t>
                      </a:r>
                      <a:r>
                        <a:rPr lang="en-US" sz="1200" kern="0" dirty="0">
                          <a:effectLst/>
                        </a:rPr>
                        <a:t>[0] = CC_PARAM_OUT_OF_RANGE;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return (</a:t>
                      </a:r>
                      <a:r>
                        <a:rPr lang="en-US" sz="1200" kern="0" dirty="0" err="1">
                          <a:effectLst/>
                        </a:rPr>
                        <a:t>nLen</a:t>
                      </a:r>
                      <a:r>
                        <a:rPr lang="en-US" sz="1200" kern="0" dirty="0">
                          <a:effectLst/>
                        </a:rPr>
                        <a:t>);     // Length of the </a:t>
                      </a:r>
                      <a:r>
                        <a:rPr lang="en-US" sz="1200" kern="0" dirty="0" err="1">
                          <a:effectLst/>
                        </a:rPr>
                        <a:t>bioscode</a:t>
                      </a:r>
                      <a:r>
                        <a:rPr lang="en-US" sz="1200" kern="0" dirty="0">
                          <a:effectLst/>
                        </a:rPr>
                        <a:t> including the completion code        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}</a:t>
                      </a:r>
                      <a:endParaRPr lang="zh-TW" sz="12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863" marR="16863" marT="0" marB="0"/>
                </a:tc>
              </a:tr>
              <a:tr h="8678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 err="1">
                          <a:effectLst/>
                        </a:rPr>
                        <a:t>pData</a:t>
                      </a:r>
                      <a:r>
                        <a:rPr lang="en-US" sz="1200" kern="0" dirty="0">
                          <a:effectLst/>
                        </a:rPr>
                        <a:t> = (</a:t>
                      </a:r>
                      <a:r>
                        <a:rPr lang="en-US" sz="1200" kern="0" dirty="0" err="1">
                          <a:effectLst/>
                        </a:rPr>
                        <a:t>WCSWriteEEPROM_T</a:t>
                      </a:r>
                      <a:r>
                        <a:rPr lang="en-US" sz="1200" kern="0" dirty="0">
                          <a:effectLst/>
                        </a:rPr>
                        <a:t>*)</a:t>
                      </a:r>
                      <a:r>
                        <a:rPr lang="en-US" sz="1200" kern="0" dirty="0" err="1">
                          <a:effectLst/>
                        </a:rPr>
                        <a:t>malloc</a:t>
                      </a:r>
                      <a:r>
                        <a:rPr lang="en-US" sz="1200" kern="0" dirty="0">
                          <a:effectLst/>
                        </a:rPr>
                        <a:t>(</a:t>
                      </a:r>
                      <a:r>
                        <a:rPr lang="en-US" sz="1200" kern="0" dirty="0" err="1">
                          <a:effectLst/>
                        </a:rPr>
                        <a:t>sizeof</a:t>
                      </a:r>
                      <a:r>
                        <a:rPr lang="en-US" sz="1200" kern="0" dirty="0">
                          <a:effectLst/>
                        </a:rPr>
                        <a:t>(</a:t>
                      </a:r>
                      <a:r>
                        <a:rPr lang="en-US" sz="1200" kern="0" dirty="0" err="1">
                          <a:effectLst/>
                        </a:rPr>
                        <a:t>WCSWriteEEPROM_T</a:t>
                      </a:r>
                      <a:r>
                        <a:rPr lang="en-US" sz="1200" kern="0" dirty="0">
                          <a:effectLst/>
                        </a:rPr>
                        <a:t>));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if(!</a:t>
                      </a:r>
                      <a:r>
                        <a:rPr lang="en-US" sz="1200" kern="0" dirty="0" err="1">
                          <a:effectLst/>
                        </a:rPr>
                        <a:t>pData</a:t>
                      </a:r>
                      <a:r>
                        <a:rPr lang="en-US" sz="1200" kern="0" dirty="0">
                          <a:effectLst/>
                        </a:rPr>
                        <a:t>){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    </a:t>
                      </a:r>
                      <a:r>
                        <a:rPr lang="en-US" sz="1200" kern="0" dirty="0" err="1">
                          <a:effectLst/>
                        </a:rPr>
                        <a:t>printf</a:t>
                      </a:r>
                      <a:r>
                        <a:rPr lang="en-US" sz="1200" kern="0" dirty="0">
                          <a:effectLst/>
                        </a:rPr>
                        <a:t>("%s %d </a:t>
                      </a:r>
                      <a:r>
                        <a:rPr lang="en-US" sz="1200" kern="0" dirty="0" err="1">
                          <a:effectLst/>
                        </a:rPr>
                        <a:t>malloc</a:t>
                      </a:r>
                      <a:r>
                        <a:rPr lang="en-US" sz="1200" kern="0" dirty="0">
                          <a:effectLst/>
                        </a:rPr>
                        <a:t> fail!!\n",__</a:t>
                      </a:r>
                      <a:r>
                        <a:rPr lang="en-US" sz="1200" kern="0" dirty="0" err="1">
                          <a:effectLst/>
                        </a:rPr>
                        <a:t>func</a:t>
                      </a:r>
                      <a:r>
                        <a:rPr lang="en-US" sz="1200" kern="0" dirty="0">
                          <a:effectLst/>
                        </a:rPr>
                        <a:t>__,__LINE__);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}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endParaRPr lang="zh-TW" sz="12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863" marR="16863" marT="0" marB="0"/>
                </a:tc>
              </a:tr>
              <a:tr h="9183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pData2 = (</a:t>
                      </a:r>
                      <a:r>
                        <a:rPr lang="en-US" sz="1200" kern="0" dirty="0" err="1">
                          <a:effectLst/>
                        </a:rPr>
                        <a:t>WCSWriteEEPROM_T</a:t>
                      </a:r>
                      <a:r>
                        <a:rPr lang="en-US" sz="1200" kern="0" dirty="0">
                          <a:effectLst/>
                        </a:rPr>
                        <a:t>*)</a:t>
                      </a:r>
                      <a:r>
                        <a:rPr lang="en-US" sz="1200" kern="0" dirty="0" err="1">
                          <a:effectLst/>
                        </a:rPr>
                        <a:t>malloc</a:t>
                      </a:r>
                      <a:r>
                        <a:rPr lang="en-US" sz="1200" kern="0" dirty="0">
                          <a:effectLst/>
                        </a:rPr>
                        <a:t>(</a:t>
                      </a:r>
                      <a:r>
                        <a:rPr lang="en-US" sz="1200" kern="0" dirty="0" err="1">
                          <a:effectLst/>
                        </a:rPr>
                        <a:t>sizeof</a:t>
                      </a:r>
                      <a:r>
                        <a:rPr lang="en-US" sz="1200" kern="0" dirty="0">
                          <a:effectLst/>
                        </a:rPr>
                        <a:t>(</a:t>
                      </a:r>
                      <a:r>
                        <a:rPr lang="en-US" sz="1200" kern="0" dirty="0" err="1">
                          <a:effectLst/>
                        </a:rPr>
                        <a:t>WCSWriteEEPROM_T</a:t>
                      </a:r>
                      <a:r>
                        <a:rPr lang="en-US" sz="1200" kern="0" dirty="0">
                          <a:effectLst/>
                        </a:rPr>
                        <a:t>));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if(!pData2){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printf</a:t>
                      </a:r>
                      <a:r>
                        <a:rPr lang="en-US" sz="1200" kern="0" dirty="0">
                          <a:effectLst/>
                        </a:rPr>
                        <a:t>("%s %d </a:t>
                      </a:r>
                      <a:r>
                        <a:rPr lang="en-US" sz="1200" kern="0" dirty="0" err="1">
                          <a:effectLst/>
                        </a:rPr>
                        <a:t>malloc</a:t>
                      </a:r>
                      <a:r>
                        <a:rPr lang="en-US" sz="1200" kern="0" dirty="0">
                          <a:effectLst/>
                        </a:rPr>
                        <a:t> fail!!\n",__</a:t>
                      </a:r>
                      <a:r>
                        <a:rPr lang="en-US" sz="1200" kern="0" dirty="0" err="1">
                          <a:effectLst/>
                        </a:rPr>
                        <a:t>func</a:t>
                      </a:r>
                      <a:r>
                        <a:rPr lang="en-US" sz="1200" kern="0" dirty="0">
                          <a:effectLst/>
                        </a:rPr>
                        <a:t>__,__LINE__);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}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</a:t>
                      </a:r>
                      <a:endParaRPr lang="zh-TW" sz="12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863" marR="16863" marT="0" marB="0"/>
                </a:tc>
              </a:tr>
            </a:tbl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592924" y="1913236"/>
            <a:ext cx="3783161" cy="16269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922372" y="3375452"/>
            <a:ext cx="743466" cy="16681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743200" y="4304269"/>
            <a:ext cx="922638" cy="20182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2592923" y="5318601"/>
            <a:ext cx="3255941" cy="13458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zh-TW" sz="2600" b="1" u="sng" dirty="0" smtClean="0"/>
              <a:t>comment</a:t>
            </a:r>
            <a:r>
              <a:rPr lang="en-US" altLang="zh-TW" sz="2600" b="1" u="sng" dirty="0"/>
              <a:t>(Suggestion</a:t>
            </a:r>
            <a:r>
              <a:rPr lang="en-US" altLang="zh-TW" sz="2600" b="1" u="sng" dirty="0" smtClean="0"/>
              <a:t>):</a:t>
            </a:r>
            <a:endParaRPr lang="en-US" altLang="zh-TW" sz="2600" b="1" u="sng" dirty="0" smtClean="0"/>
          </a:p>
          <a:p>
            <a:pPr marL="0" indent="0">
              <a:buNone/>
            </a:pPr>
            <a:r>
              <a:rPr lang="en-US" altLang="zh-TW" sz="2600" dirty="0"/>
              <a:t> </a:t>
            </a:r>
            <a:r>
              <a:rPr lang="en-US" altLang="zh-TW" sz="2600" dirty="0" smtClean="0"/>
              <a:t>      Work </a:t>
            </a:r>
            <a:r>
              <a:rPr lang="en-US" altLang="zh-TW" sz="2600" dirty="0"/>
              <a:t>as design</a:t>
            </a:r>
            <a:endParaRPr lang="zh-TW" altLang="zh-TW" sz="2600" dirty="0"/>
          </a:p>
          <a:p>
            <a:r>
              <a:rPr lang="en-US" altLang="zh-TW" sz="2600" b="1" u="heavy" dirty="0" smtClean="0"/>
              <a:t>Error (MUST Fixed):</a:t>
            </a:r>
          </a:p>
          <a:p>
            <a:pPr marL="0" indent="0">
              <a:buFont typeface="Wingdings 3" charset="2"/>
              <a:buNone/>
            </a:pPr>
            <a:r>
              <a:rPr lang="en-US" altLang="zh-TW" sz="2600" dirty="0" smtClean="0"/>
              <a:t>        </a:t>
            </a:r>
            <a:r>
              <a:rPr lang="en-US" altLang="zh-TW" sz="2600" u="heavy" dirty="0" smtClean="0"/>
              <a:t>N/A</a:t>
            </a:r>
            <a:endParaRPr lang="en-US" altLang="zh-TW" sz="2600" dirty="0" smtClean="0"/>
          </a:p>
          <a:p>
            <a:pPr lvl="1">
              <a:buFont typeface="Wingdings" panose="05000000000000000000" pitchFamily="2" charset="2"/>
              <a:buChar char="ü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338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Example </a:t>
            </a:r>
            <a:r>
              <a:rPr lang="en-US" altLang="zh-TW" b="1" dirty="0"/>
              <a:t>3: </a:t>
            </a:r>
            <a:r>
              <a:rPr lang="en-US" altLang="zh-TW" b="1" dirty="0" smtClean="0"/>
              <a:t>5.40 </a:t>
            </a:r>
            <a:r>
              <a:rPr lang="en-US" altLang="zh-TW" b="1" dirty="0"/>
              <a:t>Get </a:t>
            </a:r>
            <a:r>
              <a:rPr lang="en-US" altLang="zh-TW" b="1" dirty="0" err="1"/>
              <a:t>PCIe</a:t>
            </a:r>
            <a:r>
              <a:rPr lang="en-US" altLang="zh-TW" b="1" dirty="0"/>
              <a:t> Info</a:t>
            </a:r>
            <a:endParaRPr lang="zh-TW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2592925" y="5834557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＊</a:t>
            </a:r>
            <a:r>
              <a:rPr lang="en-US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--&gt;If there is a ‘</a:t>
            </a:r>
            <a:r>
              <a:rPr lang="zh-TW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＊</a:t>
            </a:r>
            <a:r>
              <a:rPr lang="en-US" altLang="zh-TW" sz="1600" kern="0" dirty="0">
                <a:solidFill>
                  <a:srgbClr val="000000"/>
                </a:solidFill>
                <a:ea typeface="新細明體" panose="02020500000000000000" pitchFamily="18" charset="-120"/>
                <a:cs typeface="Times New Roman" panose="02020603050405020304" pitchFamily="18" charset="0"/>
              </a:rPr>
              <a:t>’in remark box, it indicates that there is an error which needs to be fixed. </a:t>
            </a:r>
            <a:endParaRPr lang="zh-TW" altLang="zh-TW" sz="1600" kern="100" dirty="0" smtClean="0"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TW" sz="1400" dirty="0" smtClean="0">
                <a:highlight>
                  <a:srgbClr val="FFFF00"/>
                </a:highlight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TW" sz="1400" dirty="0" smtClean="0">
                <a:highlight>
                  <a:srgbClr val="FFFF00"/>
                </a:highlight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800710"/>
              </p:ext>
            </p:extLst>
          </p:nvPr>
        </p:nvGraphicFramePr>
        <p:xfrm>
          <a:off x="2592925" y="2114015"/>
          <a:ext cx="6616978" cy="3562350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5175356"/>
                <a:gridCol w="789060"/>
                <a:gridCol w="652562"/>
              </a:tblGrid>
              <a:tr h="2095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FUNCTION/FEATURE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checked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Remark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F-1. Check all variables initialized before using.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F-2. Check there are no unused variables.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F-3. Check the codes match the specification function feature.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F-4. Check the code can be modified simpler.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41910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F-5. Check code used appropriate, include algorithms, data structures, types, templates, libraries, RTOS functions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ERROR HANDLING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E-1. Check the input parameters have correct type.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E-2. Check the error return codes had been handle properly.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E-3. Check the negative numbers handled properly.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E-4. Check the pointers usage properly.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41910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E-5. Check the condition (if/switch) statements have a default clause used for error detection.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E-6. Check index of the arrays to not occur out of range value.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E-7. Check the memory leak (memory free properly).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Y</a:t>
                      </a:r>
                      <a:endParaRPr lang="zh-TW" sz="1050" kern="10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 panose="05000000000000000000" pitchFamily="2" charset="2"/>
                        <a:buChar char=""/>
                      </a:pPr>
                      <a:r>
                        <a:rPr lang="en-US" sz="1200" kern="0" dirty="0">
                          <a:effectLst/>
                        </a:rPr>
                        <a:t>E-8. Check the overflow/underflow for mathematical.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Y</a:t>
                      </a:r>
                      <a:endParaRPr lang="zh-TW" sz="105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endParaRPr lang="zh-TW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592925" y="1687705"/>
            <a:ext cx="2056928" cy="37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TW" sz="1600" b="1" kern="100" dirty="0" smtClean="0">
                <a:ea typeface="新細明體"/>
                <a:cs typeface="Times New Roman"/>
              </a:rPr>
              <a:t>Review Items</a:t>
            </a:r>
            <a:endParaRPr lang="zh-TW" altLang="zh-TW" sz="1600" b="1" kern="100" dirty="0"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382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Review function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b="1" dirty="0" smtClean="0">
                <a:cs typeface="Times New Roman" panose="02020603050405020304" pitchFamily="18" charset="0"/>
              </a:rPr>
              <a:t>List all reviewed functions and file path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>
                <a:cs typeface="Times New Roman" panose="02020603050405020304" pitchFamily="18" charset="0"/>
              </a:rPr>
              <a:t>WCSGetPCIeInfo</a:t>
            </a:r>
            <a:r>
              <a:rPr lang="en-US" altLang="zh-TW" dirty="0" smtClean="0">
                <a:cs typeface="Times New Roman" panose="02020603050405020304" pitchFamily="18" charset="0"/>
              </a:rPr>
              <a:t> </a:t>
            </a:r>
            <a:r>
              <a:rPr lang="en-US" altLang="zh-TW" dirty="0"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cs typeface="Times New Roman" panose="02020603050405020304" pitchFamily="18" charset="0"/>
              </a:rPr>
              <a:t>src</a:t>
            </a:r>
            <a:r>
              <a:rPr lang="en-US" altLang="zh-TW" dirty="0" smtClean="0">
                <a:cs typeface="Times New Roman" panose="02020603050405020304" pitchFamily="18" charset="0"/>
              </a:rPr>
              <a:t>/libraries/libipmiwcs-1.0.0/</a:t>
            </a:r>
            <a:r>
              <a:rPr lang="en-US" altLang="zh-TW" dirty="0" err="1" smtClean="0">
                <a:cs typeface="Times New Roman" panose="02020603050405020304" pitchFamily="18" charset="0"/>
              </a:rPr>
              <a:t>WCSCmds.c</a:t>
            </a:r>
            <a:r>
              <a:rPr lang="en-US" altLang="zh-TW" dirty="0" smtClean="0">
                <a:cs typeface="Times New Roman" panose="02020603050405020304" pitchFamily="18" charset="0"/>
              </a:rPr>
              <a:t>)</a:t>
            </a:r>
            <a:endParaRPr lang="en-US" altLang="zh-TW" dirty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>
                <a:cs typeface="Times New Roman" panose="02020603050405020304" pitchFamily="18" charset="0"/>
              </a:rPr>
              <a:t>WCSSetPCIeInfo</a:t>
            </a:r>
            <a:r>
              <a:rPr lang="en-US" altLang="zh-TW" dirty="0" smtClean="0"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cs typeface="Times New Roman" panose="02020603050405020304" pitchFamily="18" charset="0"/>
              </a:rPr>
              <a:t>src</a:t>
            </a:r>
            <a:r>
              <a:rPr lang="en-US" altLang="zh-TW" dirty="0" smtClean="0">
                <a:cs typeface="Times New Roman" panose="02020603050405020304" pitchFamily="18" charset="0"/>
              </a:rPr>
              <a:t>/libraries/libipmiwcs-1.0.0/</a:t>
            </a:r>
            <a:r>
              <a:rPr lang="en-US" altLang="zh-TW" dirty="0" err="1" smtClean="0">
                <a:cs typeface="Times New Roman" panose="02020603050405020304" pitchFamily="18" charset="0"/>
              </a:rPr>
              <a:t>WCSCmds.c</a:t>
            </a:r>
            <a:r>
              <a:rPr lang="en-US" altLang="zh-TW" dirty="0">
                <a:cs typeface="Times New Roman" panose="02020603050405020304" pitchFamily="18" charset="0"/>
              </a:rPr>
              <a:t>)</a:t>
            </a:r>
            <a:endParaRPr lang="zh-TW" altLang="zh-TW" dirty="0"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cs typeface="Times New Roman" panose="02020603050405020304" pitchFamily="18" charset="0"/>
              </a:rPr>
              <a:t>Content Format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>
                <a:cs typeface="Times New Roman" panose="02020603050405020304" pitchFamily="18" charset="0"/>
              </a:rPr>
              <a:t>Comment (Suggestion)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>
                <a:cs typeface="Times New Roman" panose="02020603050405020304" pitchFamily="18" charset="0"/>
              </a:rPr>
              <a:t>Error (MUST Fixed)</a:t>
            </a:r>
            <a:endParaRPr lang="zh-TW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19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/>
              <a:t>Review function - </a:t>
            </a:r>
            <a:r>
              <a:rPr lang="en-US" altLang="zh-TW" sz="3200" b="1" dirty="0" err="1"/>
              <a:t>WCSGetPCIeInfo</a:t>
            </a:r>
            <a:endParaRPr lang="zh-TW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2515072" y="1868931"/>
            <a:ext cx="7937853" cy="633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The functions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is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reviewed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parameter </a:t>
            </a:r>
            <a:r>
              <a:rPr lang="en-US" altLang="zh-TW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NOT_PRESENT</a:t>
            </a:r>
            <a:r>
              <a:rPr lang="en-US" altLang="zh-TW" sz="1600" dirty="0">
                <a:cs typeface="Times New Roman" panose="02020603050405020304" pitchFamily="18" charset="0"/>
              </a:rPr>
              <a:t> </a:t>
            </a:r>
            <a:r>
              <a:rPr lang="en-US" altLang="zh-TW" sz="1600" dirty="0" smtClean="0">
                <a:cs typeface="Times New Roman" panose="02020603050405020304" pitchFamily="18" charset="0"/>
              </a:rPr>
              <a:t>is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the detailed review result for each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comments:</a:t>
            </a:r>
            <a:endParaRPr lang="zh-TW" altLang="zh-TW" sz="1600" kern="100" dirty="0"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2589212" y="5519351"/>
            <a:ext cx="8915400" cy="1062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zh-TW" b="1" u="sng" dirty="0" smtClean="0">
                <a:cs typeface="Times New Roman" panose="02020603050405020304" pitchFamily="18" charset="0"/>
              </a:rPr>
              <a:t>comment(Suggestion</a:t>
            </a:r>
            <a:r>
              <a:rPr lang="en-US" altLang="zh-TW" b="1" u="sng" dirty="0" smtClean="0">
                <a:cs typeface="Times New Roman" panose="02020603050405020304" pitchFamily="18" charset="0"/>
              </a:rPr>
              <a:t>):</a:t>
            </a:r>
            <a:endParaRPr lang="en-US" altLang="zh-TW" b="1" u="sng" dirty="0" smtClean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>
                <a:cs typeface="Times New Roman" panose="02020603050405020304" pitchFamily="18" charset="0"/>
              </a:rPr>
              <a:t>Acccording</a:t>
            </a:r>
            <a:r>
              <a:rPr lang="en-US" altLang="zh-TW" dirty="0" smtClean="0">
                <a:cs typeface="Times New Roman" panose="02020603050405020304" pitchFamily="18" charset="0"/>
              </a:rPr>
              <a:t> </a:t>
            </a:r>
            <a:r>
              <a:rPr lang="en-US" altLang="zh-TW" dirty="0">
                <a:cs typeface="Times New Roman" panose="02020603050405020304" pitchFamily="18" charset="0"/>
              </a:rPr>
              <a:t>the Table99, we can use </a:t>
            </a:r>
            <a:r>
              <a:rPr lang="en-US" altLang="zh-TW" dirty="0" err="1">
                <a:cs typeface="Times New Roman" panose="02020603050405020304" pitchFamily="18" charset="0"/>
              </a:rPr>
              <a:t>marco</a:t>
            </a:r>
            <a:r>
              <a:rPr lang="en-US" altLang="zh-TW" dirty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“</a:t>
            </a:r>
            <a:r>
              <a:rPr lang="en-US" altLang="zh-TW" dirty="0">
                <a:cs typeface="Times New Roman" panose="02020603050405020304" pitchFamily="18" charset="0"/>
              </a:rPr>
              <a:t>NOT_PRESENT</a:t>
            </a:r>
            <a:r>
              <a:rPr lang="en-US" altLang="zh-TW" dirty="0" smtClean="0">
                <a:cs typeface="Times New Roman" panose="02020603050405020304" pitchFamily="18" charset="0"/>
              </a:rPr>
              <a:t>” </a:t>
            </a:r>
            <a:r>
              <a:rPr lang="en-US" altLang="zh-TW" dirty="0">
                <a:cs typeface="Times New Roman" panose="02020603050405020304" pitchFamily="18" charset="0"/>
              </a:rPr>
              <a:t>to instead the “</a:t>
            </a:r>
            <a:r>
              <a:rPr lang="en-US" altLang="zh-TW" dirty="0" err="1">
                <a:cs typeface="Times New Roman" panose="02020603050405020304" pitchFamily="18" charset="0"/>
              </a:rPr>
              <a:t>PCIeID</a:t>
            </a:r>
            <a:r>
              <a:rPr lang="en-US" altLang="zh-TW" dirty="0">
                <a:cs typeface="Times New Roman" panose="02020603050405020304" pitchFamily="18" charset="0"/>
              </a:rPr>
              <a:t>==0” as define</a:t>
            </a:r>
            <a:r>
              <a:rPr lang="en-US" altLang="zh-TW" dirty="0" smtClean="0">
                <a:cs typeface="Times New Roman" panose="02020603050405020304" pitchFamily="18" charset="0"/>
              </a:rPr>
              <a:t>.</a:t>
            </a:r>
            <a:endParaRPr lang="en-US" altLang="zh-TW" dirty="0">
              <a:cs typeface="Times New Roman" panose="02020603050405020304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703511"/>
            <a:ext cx="50292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232" y="4769354"/>
            <a:ext cx="61150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02529" y="3779345"/>
            <a:ext cx="1920355" cy="79431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zh-TW" altLang="en-US" sz="2000" b="1" dirty="0" smtClean="0">
                <a:solidFill>
                  <a:srgbClr val="FF0000"/>
                </a:solidFill>
                <a:latin typeface="+mn-ea"/>
              </a:rPr>
              <a:t>改</a:t>
            </a:r>
            <a:r>
              <a:rPr lang="zh-TW" altLang="en-US" sz="2000" b="1" dirty="0">
                <a:solidFill>
                  <a:srgbClr val="FF0000"/>
                </a:solidFill>
                <a:latin typeface="+mn-ea"/>
              </a:rPr>
              <a:t>成</a:t>
            </a:r>
            <a:r>
              <a:rPr kumimoji="0" lang="zh-TW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NOT_PRESENT</a:t>
            </a:r>
            <a:endParaRPr kumimoji="0" lang="zh-TW" altLang="zh-TW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5422020" y="4039592"/>
            <a:ext cx="880509" cy="67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7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/>
              <a:t>Review function - </a:t>
            </a:r>
            <a:r>
              <a:rPr lang="en-US" altLang="zh-TW" sz="3200" b="1" dirty="0" err="1"/>
              <a:t>WCSSetPCIeInfo</a:t>
            </a:r>
            <a:endParaRPr lang="zh-TW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2515072" y="1868931"/>
            <a:ext cx="7937853" cy="633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The functions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is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reviewed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parameter </a:t>
            </a:r>
            <a:r>
              <a:rPr lang="en-US" altLang="zh-TW" sz="16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PCIeID</a:t>
            </a:r>
            <a:r>
              <a:rPr lang="en-US" altLang="zh-TW" sz="16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TW" sz="1600" dirty="0" smtClean="0">
                <a:cs typeface="Times New Roman" panose="02020603050405020304" pitchFamily="18" charset="0"/>
              </a:rPr>
              <a:t>is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 </a:t>
            </a:r>
            <a:r>
              <a:rPr lang="en-US" altLang="zh-TW" sz="1600" kern="100" dirty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the detailed review result for each </a:t>
            </a:r>
            <a:r>
              <a:rPr lang="en-US" altLang="zh-TW" sz="1600" kern="100" dirty="0" smtClean="0">
                <a:solidFill>
                  <a:srgbClr val="000000"/>
                </a:solidFill>
                <a:ea typeface="Times New Roman"/>
                <a:cs typeface="Times New Roman" panose="02020603050405020304" pitchFamily="18" charset="0"/>
              </a:rPr>
              <a:t>comments:</a:t>
            </a:r>
            <a:endParaRPr lang="zh-TW" altLang="zh-TW" sz="1600" kern="100" dirty="0">
              <a:ea typeface="新細明體"/>
              <a:cs typeface="Times New Roman" panose="02020603050405020304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072" y="2491114"/>
            <a:ext cx="57340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85904" y="3453845"/>
            <a:ext cx="362464" cy="15587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2515072" y="4332204"/>
            <a:ext cx="8915400" cy="1977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zh-TW" b="1" u="sng" dirty="0" smtClean="0">
                <a:cs typeface="Times New Roman" panose="02020603050405020304" pitchFamily="18" charset="0"/>
              </a:rPr>
              <a:t>comment(Suggestion</a:t>
            </a:r>
            <a:r>
              <a:rPr lang="en-US" altLang="zh-TW" b="1" u="sng" dirty="0" smtClean="0">
                <a:cs typeface="Times New Roman" panose="02020603050405020304" pitchFamily="18" charset="0"/>
              </a:rPr>
              <a:t>):</a:t>
            </a:r>
            <a:endParaRPr lang="en-US" altLang="zh-TW" b="1" dirty="0" smtClean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>
                <a:cs typeface="Times New Roman" panose="02020603050405020304" pitchFamily="18" charset="0"/>
              </a:rPr>
              <a:t>Status change from NOT installed to install. The “0xff” can using macro “ NOT_PRESENT” to </a:t>
            </a:r>
            <a:r>
              <a:rPr lang="en-US" altLang="zh-TW" dirty="0" smtClean="0">
                <a:cs typeface="Times New Roman" panose="02020603050405020304" pitchFamily="18" charset="0"/>
              </a:rPr>
              <a:t>instead</a:t>
            </a:r>
            <a:endParaRPr lang="en-US" altLang="zh-TW" dirty="0">
              <a:cs typeface="Times New Roman" panose="02020603050405020304" pitchFamily="18" charset="0"/>
            </a:endParaRPr>
          </a:p>
          <a:p>
            <a:r>
              <a:rPr lang="en-US" altLang="zh-TW" sz="1600" b="1" u="heavy" dirty="0">
                <a:cs typeface="Times New Roman" panose="02020603050405020304" pitchFamily="18" charset="0"/>
              </a:rPr>
              <a:t>Error (MUST Fixed):</a:t>
            </a:r>
          </a:p>
          <a:p>
            <a:pPr marL="0" indent="0">
              <a:buNone/>
            </a:pPr>
            <a:r>
              <a:rPr lang="en-US" altLang="zh-TW" sz="1600" dirty="0">
                <a:cs typeface="Times New Roman" panose="02020603050405020304" pitchFamily="18" charset="0"/>
              </a:rPr>
              <a:t>        </a:t>
            </a:r>
            <a:r>
              <a:rPr lang="en-US" altLang="zh-TW" sz="1600" u="heavy" dirty="0" smtClean="0">
                <a:cs typeface="Times New Roman" panose="02020603050405020304" pitchFamily="18" charset="0"/>
              </a:rPr>
              <a:t>N/A</a:t>
            </a:r>
            <a:endParaRPr lang="en-US" altLang="zh-TW" sz="1600" dirty="0">
              <a:cs typeface="Times New Roman" panose="02020603050405020304" pitchFamily="18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8928877" y="3072268"/>
            <a:ext cx="1920355" cy="79431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zh-TW" altLang="en-US" sz="2000" b="1" dirty="0" smtClean="0">
                <a:solidFill>
                  <a:srgbClr val="FF0000"/>
                </a:solidFill>
                <a:latin typeface="+mn-ea"/>
              </a:rPr>
              <a:t>改</a:t>
            </a:r>
            <a:r>
              <a:rPr lang="zh-TW" altLang="en-US" sz="2000" b="1" dirty="0">
                <a:solidFill>
                  <a:srgbClr val="FF0000"/>
                </a:solidFill>
                <a:latin typeface="+mn-ea"/>
              </a:rPr>
              <a:t>成</a:t>
            </a:r>
            <a:r>
              <a:rPr kumimoji="0" lang="zh-TW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NOT_PRESENT</a:t>
            </a:r>
            <a:endParaRPr kumimoji="0" lang="zh-TW" altLang="zh-TW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8049891" y="3498185"/>
            <a:ext cx="880509" cy="67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07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Error handling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List all reviewed functions and file </a:t>
            </a:r>
            <a:r>
              <a:rPr lang="en-US" altLang="zh-TW" sz="1600" dirty="0" smtClean="0">
                <a:cs typeface="Times New Roman" panose="02020603050405020304" pitchFamily="18" charset="0"/>
              </a:rPr>
              <a:t>path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>
                <a:cs typeface="Times New Roman" panose="02020603050405020304" pitchFamily="18" charset="0"/>
              </a:rPr>
              <a:t>WCSGetPCIeInfo</a:t>
            </a:r>
            <a:r>
              <a:rPr lang="en-US" altLang="zh-TW" dirty="0" smtClean="0">
                <a:cs typeface="Times New Roman" panose="02020603050405020304" pitchFamily="18" charset="0"/>
              </a:rPr>
              <a:t> (</a:t>
            </a:r>
            <a:r>
              <a:rPr lang="en-US" altLang="zh-TW" dirty="0" err="1" smtClean="0">
                <a:cs typeface="Times New Roman" panose="02020603050405020304" pitchFamily="18" charset="0"/>
              </a:rPr>
              <a:t>src</a:t>
            </a:r>
            <a:r>
              <a:rPr lang="en-US" altLang="zh-TW" dirty="0" smtClean="0">
                <a:cs typeface="Times New Roman" panose="02020603050405020304" pitchFamily="18" charset="0"/>
              </a:rPr>
              <a:t>/libraries/libipmiwcs-1.0.0/</a:t>
            </a:r>
            <a:r>
              <a:rPr lang="en-US" altLang="zh-TW" dirty="0" err="1" smtClean="0">
                <a:cs typeface="Times New Roman" panose="02020603050405020304" pitchFamily="18" charset="0"/>
              </a:rPr>
              <a:t>WCSCmds.c</a:t>
            </a:r>
            <a:r>
              <a:rPr lang="en-US" altLang="zh-TW" dirty="0" smtClean="0">
                <a:cs typeface="Times New Roman" panose="02020603050405020304" pitchFamily="18" charset="0"/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err="1" smtClean="0">
                <a:cs typeface="Times New Roman" panose="02020603050405020304" pitchFamily="18" charset="0"/>
              </a:rPr>
              <a:t>WCSSetPCIeInfo</a:t>
            </a:r>
            <a:r>
              <a:rPr lang="en-US" altLang="zh-TW" dirty="0" smtClean="0"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cs typeface="Times New Roman" panose="02020603050405020304" pitchFamily="18" charset="0"/>
              </a:rPr>
              <a:t>src</a:t>
            </a:r>
            <a:r>
              <a:rPr lang="en-US" altLang="zh-TW" dirty="0" smtClean="0">
                <a:cs typeface="Times New Roman" panose="02020603050405020304" pitchFamily="18" charset="0"/>
              </a:rPr>
              <a:t>/libraries/libipmiwcs-1.0.0/</a:t>
            </a:r>
            <a:r>
              <a:rPr lang="en-US" altLang="zh-TW" dirty="0" err="1" smtClean="0">
                <a:cs typeface="Times New Roman" panose="02020603050405020304" pitchFamily="18" charset="0"/>
              </a:rPr>
              <a:t>WCSCmds.c</a:t>
            </a:r>
            <a:r>
              <a:rPr lang="en-US" altLang="zh-TW" dirty="0" smtClean="0">
                <a:cs typeface="Times New Roman" panose="02020603050405020304" pitchFamily="18" charset="0"/>
              </a:rPr>
              <a:t>)</a:t>
            </a:r>
            <a:endParaRPr lang="zh-TW" altLang="zh-TW" dirty="0">
              <a:cs typeface="Times New Roman" panose="02020603050405020304" pitchFamily="18" charset="0"/>
            </a:endParaRPr>
          </a:p>
          <a:p>
            <a:r>
              <a:rPr lang="en-US" altLang="zh-TW" sz="1600" dirty="0" smtClean="0">
                <a:cs typeface="Times New Roman" panose="02020603050405020304" pitchFamily="18" charset="0"/>
              </a:rPr>
              <a:t>Format</a:t>
            </a:r>
            <a:endParaRPr lang="en-US" altLang="zh-TW" sz="1600" dirty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>
                <a:cs typeface="Times New Roman" panose="02020603050405020304" pitchFamily="18" charset="0"/>
              </a:rPr>
              <a:t>Show error handling code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>
                <a:cs typeface="Times New Roman" panose="02020603050405020304" pitchFamily="18" charset="0"/>
              </a:rPr>
              <a:t>Comment </a:t>
            </a:r>
            <a:r>
              <a:rPr lang="en-US" altLang="zh-TW" dirty="0">
                <a:cs typeface="Times New Roman" panose="02020603050405020304" pitchFamily="18" charset="0"/>
              </a:rPr>
              <a:t>(Suggestion)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>
                <a:cs typeface="Times New Roman" panose="02020603050405020304" pitchFamily="18" charset="0"/>
              </a:rPr>
              <a:t>Error (MUST Fixed)</a:t>
            </a:r>
            <a:endParaRPr lang="zh-TW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38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Error handling - </a:t>
            </a:r>
            <a:r>
              <a:rPr lang="en-US" altLang="zh-TW" b="1" dirty="0" err="1"/>
              <a:t>WCSGetPCIeInfo</a:t>
            </a:r>
            <a:endParaRPr lang="zh-TW" altLang="zh-TW" b="1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774630" y="1943082"/>
            <a:ext cx="2787271" cy="21288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106874" y="3267150"/>
            <a:ext cx="1003731" cy="147169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2589212" y="4963573"/>
            <a:ext cx="8915400" cy="87749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zh-TW" sz="6400" b="1" u="sng" dirty="0" smtClean="0">
                <a:cs typeface="Times New Roman" panose="02020603050405020304" pitchFamily="18" charset="0"/>
              </a:rPr>
              <a:t>comment</a:t>
            </a:r>
            <a:r>
              <a:rPr lang="en-US" altLang="zh-TW" sz="6400" b="1" u="sng" dirty="0">
                <a:cs typeface="Times New Roman" panose="02020603050405020304" pitchFamily="18" charset="0"/>
              </a:rPr>
              <a:t>(Suggestion</a:t>
            </a:r>
            <a:r>
              <a:rPr lang="en-US" altLang="zh-TW" sz="6400" b="1" u="sng" dirty="0" smtClean="0">
                <a:cs typeface="Times New Roman" panose="02020603050405020304" pitchFamily="18" charset="0"/>
              </a:rPr>
              <a:t>):</a:t>
            </a:r>
            <a:endParaRPr lang="en-US" altLang="zh-TW" sz="6400" b="1" u="sng" dirty="0" smtClean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6400" dirty="0" smtClean="0">
                <a:cs typeface="Times New Roman" panose="02020603050405020304" pitchFamily="18" charset="0"/>
              </a:rPr>
              <a:t> </a:t>
            </a:r>
            <a:r>
              <a:rPr lang="en-US" altLang="zh-TW" sz="6400" dirty="0">
                <a:cs typeface="Times New Roman" panose="02020603050405020304" pitchFamily="18" charset="0"/>
              </a:rPr>
              <a:t>This function support error handling when “</a:t>
            </a:r>
            <a:r>
              <a:rPr lang="en-US" altLang="zh-TW" sz="6400" dirty="0" err="1">
                <a:cs typeface="Times New Roman" panose="02020603050405020304" pitchFamily="18" charset="0"/>
              </a:rPr>
              <a:t>PCIeID</a:t>
            </a:r>
            <a:r>
              <a:rPr lang="en-US" altLang="zh-TW" sz="6400" dirty="0">
                <a:cs typeface="Times New Roman" panose="02020603050405020304" pitchFamily="18" charset="0"/>
              </a:rPr>
              <a:t>” out of range</a:t>
            </a:r>
            <a:endParaRPr lang="zh-TW" altLang="zh-TW" sz="6400" dirty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6400" dirty="0" smtClean="0">
                <a:cs typeface="Times New Roman" panose="02020603050405020304" pitchFamily="18" charset="0"/>
              </a:rPr>
              <a:t> </a:t>
            </a:r>
            <a:r>
              <a:rPr lang="en-US" altLang="zh-TW" sz="6400" dirty="0">
                <a:cs typeface="Times New Roman" panose="02020603050405020304" pitchFamily="18" charset="0"/>
              </a:rPr>
              <a:t>This function support error handling when “</a:t>
            </a:r>
            <a:r>
              <a:rPr lang="en-US" altLang="zh-TW" sz="6400" dirty="0" err="1">
                <a:cs typeface="Times New Roman" panose="02020603050405020304" pitchFamily="18" charset="0"/>
              </a:rPr>
              <a:t>PCIeID</a:t>
            </a:r>
            <a:r>
              <a:rPr lang="en-US" altLang="zh-TW" sz="6400" dirty="0">
                <a:cs typeface="Times New Roman" panose="02020603050405020304" pitchFamily="18" charset="0"/>
              </a:rPr>
              <a:t>==0”, do special </a:t>
            </a:r>
            <a:r>
              <a:rPr lang="en-US" altLang="zh-TW" sz="6400" dirty="0" smtClean="0">
                <a:cs typeface="Times New Roman" panose="02020603050405020304" pitchFamily="18" charset="0"/>
              </a:rPr>
              <a:t>case</a:t>
            </a:r>
            <a:endParaRPr lang="zh-TW" altLang="zh-TW" sz="6400" dirty="0">
              <a:cs typeface="Times New Roman" panose="02020603050405020304" pitchFamily="18" charset="0"/>
            </a:endParaRPr>
          </a:p>
          <a:p>
            <a:r>
              <a:rPr lang="en-US" altLang="zh-TW" sz="6400" b="1" u="heavy" dirty="0" smtClean="0">
                <a:cs typeface="Times New Roman" panose="02020603050405020304" pitchFamily="18" charset="0"/>
              </a:rPr>
              <a:t>Error (MUST Fixed):</a:t>
            </a:r>
          </a:p>
          <a:p>
            <a:pPr marL="0" indent="0">
              <a:buFont typeface="Wingdings 3" charset="2"/>
              <a:buNone/>
            </a:pPr>
            <a:r>
              <a:rPr lang="en-US" altLang="zh-TW" sz="6400" dirty="0" smtClean="0">
                <a:cs typeface="Times New Roman" panose="02020603050405020304" pitchFamily="18" charset="0"/>
              </a:rPr>
              <a:t>        </a:t>
            </a:r>
            <a:r>
              <a:rPr lang="en-US" altLang="zh-TW" sz="6400" u="heavy" dirty="0" smtClean="0">
                <a:cs typeface="Times New Roman" panose="02020603050405020304" pitchFamily="18" charset="0"/>
              </a:rPr>
              <a:t>N/A</a:t>
            </a:r>
            <a:endParaRPr lang="en-US" altLang="zh-TW" sz="6400" dirty="0" smtClean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zh-TW" altLang="en-US" dirty="0"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296458"/>
              </p:ext>
            </p:extLst>
          </p:nvPr>
        </p:nvGraphicFramePr>
        <p:xfrm>
          <a:off x="2598177" y="1943082"/>
          <a:ext cx="5628250" cy="28273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28250"/>
              </a:tblGrid>
              <a:tr h="3516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if((</a:t>
                      </a:r>
                      <a:r>
                        <a:rPr lang="en-US" sz="1200" kern="0" dirty="0" err="1">
                          <a:effectLst/>
                        </a:rPr>
                        <a:t>PCIeID</a:t>
                      </a:r>
                      <a:r>
                        <a:rPr lang="en-US" sz="1200" kern="0" dirty="0">
                          <a:effectLst/>
                        </a:rPr>
                        <a:t>&gt; </a:t>
                      </a:r>
                      <a:r>
                        <a:rPr lang="en-US" sz="1200" kern="0" dirty="0" err="1">
                          <a:effectLst/>
                        </a:rPr>
                        <a:t>WCS_MAX_PCIe_INDEX</a:t>
                      </a:r>
                      <a:r>
                        <a:rPr lang="en-US" sz="1200" kern="0" dirty="0">
                          <a:effectLst/>
                        </a:rPr>
                        <a:t>)){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BMC_CMD_PRINT("%s %d Input data out of range (1-3) ! \r\</a:t>
                      </a:r>
                      <a:r>
                        <a:rPr lang="en-US" sz="1200" kern="0" dirty="0" err="1">
                          <a:effectLst/>
                        </a:rPr>
                        <a:t>n",__FUNCTION__,__LINE</a:t>
                      </a:r>
                      <a:r>
                        <a:rPr lang="en-US" sz="1200" kern="0" dirty="0">
                          <a:effectLst/>
                        </a:rPr>
                        <a:t>__);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pRes</a:t>
                      </a:r>
                      <a:r>
                        <a:rPr lang="en-US" sz="1200" kern="0" dirty="0">
                          <a:effectLst/>
                        </a:rPr>
                        <a:t>[0] = CC_PARAM_OUT_OF_RANGE;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return (</a:t>
                      </a:r>
                      <a:r>
                        <a:rPr lang="en-US" sz="1200" kern="0" dirty="0" err="1">
                          <a:effectLst/>
                        </a:rPr>
                        <a:t>nLen</a:t>
                      </a:r>
                      <a:r>
                        <a:rPr lang="en-US" sz="1200" kern="0" dirty="0">
                          <a:effectLst/>
                        </a:rPr>
                        <a:t>);     // Length of the </a:t>
                      </a:r>
                      <a:r>
                        <a:rPr lang="en-US" sz="1200" kern="0" dirty="0" err="1">
                          <a:effectLst/>
                        </a:rPr>
                        <a:t>bioscode</a:t>
                      </a:r>
                      <a:r>
                        <a:rPr lang="en-US" sz="1200" kern="0" dirty="0">
                          <a:effectLst/>
                        </a:rPr>
                        <a:t> including the completion code        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}</a:t>
                      </a:r>
                      <a:endParaRPr lang="zh-TW" sz="12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686" marR="61686" marT="0" marB="0"/>
                </a:tc>
              </a:tr>
              <a:tr h="1547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	if(</a:t>
                      </a:r>
                      <a:r>
                        <a:rPr lang="en-US" sz="1200" kern="0" dirty="0" err="1">
                          <a:effectLst/>
                        </a:rPr>
                        <a:t>PCIeID</a:t>
                      </a:r>
                      <a:r>
                        <a:rPr lang="en-US" sz="1200" kern="0" dirty="0">
                          <a:effectLst/>
                        </a:rPr>
                        <a:t>==0)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	{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nLen</a:t>
                      </a:r>
                      <a:r>
                        <a:rPr lang="en-US" sz="1200" kern="0" dirty="0">
                          <a:effectLst/>
                        </a:rPr>
                        <a:t> = 3;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pRes</a:t>
                      </a:r>
                      <a:r>
                        <a:rPr lang="en-US" sz="1200" kern="0" dirty="0">
                          <a:effectLst/>
                        </a:rPr>
                        <a:t>[0] = CC_NORMAL;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pRes</a:t>
                      </a:r>
                      <a:r>
                        <a:rPr lang="en-US" sz="1200" kern="0" dirty="0">
                          <a:effectLst/>
                        </a:rPr>
                        <a:t>[1] =</a:t>
                      </a:r>
                      <a:r>
                        <a:rPr lang="en-US" sz="1200" kern="0" dirty="0" err="1">
                          <a:effectLst/>
                        </a:rPr>
                        <a:t>PCIE_Pesent</a:t>
                      </a:r>
                      <a:r>
                        <a:rPr lang="en-US" sz="1200" kern="0" dirty="0">
                          <a:effectLst/>
                        </a:rPr>
                        <a:t>[0];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</a:t>
                      </a:r>
                      <a:r>
                        <a:rPr lang="en-US" sz="1200" kern="0" dirty="0" err="1">
                          <a:effectLst/>
                        </a:rPr>
                        <a:t>pRes</a:t>
                      </a:r>
                      <a:r>
                        <a:rPr lang="en-US" sz="1200" kern="0" dirty="0">
                          <a:effectLst/>
                        </a:rPr>
                        <a:t>[2] =</a:t>
                      </a:r>
                      <a:r>
                        <a:rPr lang="en-US" sz="1200" kern="0" dirty="0" err="1">
                          <a:effectLst/>
                        </a:rPr>
                        <a:t>PCIE_Pesent</a:t>
                      </a:r>
                      <a:r>
                        <a:rPr lang="en-US" sz="1200" kern="0" dirty="0">
                          <a:effectLst/>
                        </a:rPr>
                        <a:t>[1];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        return (</a:t>
                      </a:r>
                      <a:r>
                        <a:rPr lang="en-US" sz="1200" kern="0" dirty="0" err="1">
                          <a:effectLst/>
                        </a:rPr>
                        <a:t>nLen</a:t>
                      </a:r>
                      <a:r>
                        <a:rPr lang="en-US" sz="1200" kern="0" dirty="0">
                          <a:effectLst/>
                        </a:rPr>
                        <a:t>);</a:t>
                      </a:r>
                      <a:endParaRPr lang="zh-TW" sz="12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	</a:t>
                      </a:r>
                      <a:r>
                        <a:rPr lang="en-US" sz="1200" kern="0" dirty="0" smtClean="0">
                          <a:effectLst/>
                        </a:rPr>
                        <a:t>}</a:t>
                      </a:r>
                      <a:endParaRPr lang="zh-TW" sz="12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686" marR="6168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20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Error handling - </a:t>
            </a:r>
            <a:r>
              <a:rPr lang="en-US" altLang="zh-TW" b="1" dirty="0" err="1"/>
              <a:t>WCSSetPCIeInfo</a:t>
            </a:r>
            <a:endParaRPr lang="zh-TW" altLang="zh-TW" b="1" dirty="0"/>
          </a:p>
        </p:txBody>
      </p:sp>
      <p:sp>
        <p:nvSpPr>
          <p:cNvPr id="8" name="內容版面配置區 2"/>
          <p:cNvSpPr txBox="1">
            <a:spLocks/>
          </p:cNvSpPr>
          <p:nvPr/>
        </p:nvSpPr>
        <p:spPr>
          <a:xfrm>
            <a:off x="2592924" y="4097421"/>
            <a:ext cx="8911687" cy="201741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altLang="zh-TW" sz="2300" b="1" u="sng" dirty="0" smtClean="0">
                <a:cs typeface="Times New Roman" panose="02020603050405020304" pitchFamily="18" charset="0"/>
              </a:rPr>
              <a:t>comment</a:t>
            </a:r>
            <a:r>
              <a:rPr lang="en-US" altLang="zh-TW" sz="2300" b="1" u="sng" dirty="0">
                <a:cs typeface="Times New Roman" panose="02020603050405020304" pitchFamily="18" charset="0"/>
              </a:rPr>
              <a:t>(Suggestion</a:t>
            </a:r>
            <a:r>
              <a:rPr lang="en-US" altLang="zh-TW" sz="2300" b="1" u="sng" dirty="0" smtClean="0">
                <a:cs typeface="Times New Roman" panose="02020603050405020304" pitchFamily="18" charset="0"/>
              </a:rPr>
              <a:t>):</a:t>
            </a:r>
            <a:endParaRPr lang="en-US" altLang="zh-TW" sz="2300" b="1" u="sng" dirty="0" smtClean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2300" dirty="0" smtClean="0">
                <a:cs typeface="Times New Roman" panose="02020603050405020304" pitchFamily="18" charset="0"/>
              </a:rPr>
              <a:t>This </a:t>
            </a:r>
            <a:r>
              <a:rPr lang="en-US" altLang="zh-TW" sz="2300" dirty="0">
                <a:cs typeface="Times New Roman" panose="02020603050405020304" pitchFamily="18" charset="0"/>
              </a:rPr>
              <a:t>function support error handling when </a:t>
            </a:r>
            <a:r>
              <a:rPr lang="en-US" altLang="zh-TW" sz="2300" dirty="0">
                <a:solidFill>
                  <a:srgbClr val="FF0000"/>
                </a:solidFill>
                <a:cs typeface="Times New Roman" panose="02020603050405020304" pitchFamily="18" charset="0"/>
              </a:rPr>
              <a:t>“(</a:t>
            </a:r>
            <a:r>
              <a:rPr lang="en-US" altLang="zh-TW" sz="23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PCIeID</a:t>
            </a:r>
            <a:r>
              <a:rPr lang="en-US" altLang="zh-TW" sz="2300" dirty="0">
                <a:solidFill>
                  <a:srgbClr val="FF0000"/>
                </a:solidFill>
                <a:cs typeface="Times New Roman" panose="02020603050405020304" pitchFamily="18" charset="0"/>
              </a:rPr>
              <a:t> == 0 &amp;&amp; </a:t>
            </a:r>
            <a:r>
              <a:rPr lang="en-US" altLang="zh-TW" sz="23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ReqLen</a:t>
            </a:r>
            <a:r>
              <a:rPr lang="en-US" altLang="zh-TW" sz="2300" dirty="0">
                <a:solidFill>
                  <a:srgbClr val="FF0000"/>
                </a:solidFill>
                <a:cs typeface="Times New Roman" panose="02020603050405020304" pitchFamily="18" charset="0"/>
              </a:rPr>
              <a:t> != 3) || (</a:t>
            </a:r>
            <a:r>
              <a:rPr lang="en-US" altLang="zh-TW" sz="23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PCIeID</a:t>
            </a:r>
            <a:r>
              <a:rPr lang="en-US" altLang="zh-TW" sz="2300" dirty="0">
                <a:solidFill>
                  <a:srgbClr val="FF0000"/>
                </a:solidFill>
                <a:cs typeface="Times New Roman" panose="02020603050405020304" pitchFamily="18" charset="0"/>
              </a:rPr>
              <a:t> != 0 &amp;&amp; </a:t>
            </a:r>
            <a:r>
              <a:rPr lang="en-US" altLang="zh-TW" sz="23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ReqLen</a:t>
            </a:r>
            <a:r>
              <a:rPr lang="en-US" altLang="zh-TW" sz="2300" dirty="0">
                <a:solidFill>
                  <a:srgbClr val="FF0000"/>
                </a:solidFill>
                <a:cs typeface="Times New Roman" panose="02020603050405020304" pitchFamily="18" charset="0"/>
              </a:rPr>
              <a:t> != 9</a:t>
            </a:r>
            <a:r>
              <a:rPr lang="en-US" altLang="zh-TW" sz="23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)”</a:t>
            </a:r>
            <a:endParaRPr lang="en-US" altLang="zh-TW" sz="23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2300" dirty="0" smtClean="0">
                <a:cs typeface="Times New Roman" panose="02020603050405020304" pitchFamily="18" charset="0"/>
              </a:rPr>
              <a:t>This </a:t>
            </a:r>
            <a:r>
              <a:rPr lang="en-US" altLang="zh-TW" sz="2300" dirty="0">
                <a:cs typeface="Times New Roman" panose="02020603050405020304" pitchFamily="18" charset="0"/>
              </a:rPr>
              <a:t>function support error handling when </a:t>
            </a:r>
            <a:r>
              <a:rPr lang="en-US" altLang="zh-TW" sz="2300" dirty="0">
                <a:solidFill>
                  <a:srgbClr val="FF0000"/>
                </a:solidFill>
                <a:cs typeface="Times New Roman" panose="02020603050405020304" pitchFamily="18" charset="0"/>
              </a:rPr>
              <a:t>“</a:t>
            </a:r>
            <a:r>
              <a:rPr lang="en-US" altLang="zh-TW" sz="23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PCIeID</a:t>
            </a:r>
            <a:r>
              <a:rPr lang="en-US" altLang="zh-TW" sz="2300" dirty="0">
                <a:solidFill>
                  <a:srgbClr val="FF0000"/>
                </a:solidFill>
                <a:cs typeface="Times New Roman" panose="02020603050405020304" pitchFamily="18" charset="0"/>
              </a:rPr>
              <a:t>&gt; </a:t>
            </a:r>
            <a:r>
              <a:rPr lang="en-US" altLang="zh-TW" sz="23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WCS_MAX_PCIe_INDEX</a:t>
            </a:r>
            <a:r>
              <a:rPr lang="en-US" altLang="zh-TW" sz="2300" dirty="0">
                <a:solidFill>
                  <a:srgbClr val="FF0000"/>
                </a:solidFill>
                <a:cs typeface="Times New Roman" panose="02020603050405020304" pitchFamily="18" charset="0"/>
              </a:rPr>
              <a:t>”</a:t>
            </a:r>
            <a:endParaRPr lang="zh-TW" altLang="zh-TW" sz="23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r>
              <a:rPr lang="en-US" altLang="zh-TW" sz="2300" b="1" u="heavy" dirty="0" smtClean="0">
                <a:cs typeface="Times New Roman" panose="02020603050405020304" pitchFamily="18" charset="0"/>
              </a:rPr>
              <a:t>Error (MUST Fixed):</a:t>
            </a:r>
          </a:p>
          <a:p>
            <a:pPr marL="0" indent="0">
              <a:buFont typeface="Wingdings 3" charset="2"/>
              <a:buNone/>
            </a:pPr>
            <a:r>
              <a:rPr lang="en-US" altLang="zh-TW" sz="2300" dirty="0" smtClean="0">
                <a:cs typeface="Times New Roman" panose="02020603050405020304" pitchFamily="18" charset="0"/>
              </a:rPr>
              <a:t>        </a:t>
            </a:r>
            <a:r>
              <a:rPr lang="en-US" altLang="zh-TW" sz="2300" u="heavy" dirty="0" smtClean="0">
                <a:cs typeface="Times New Roman" panose="02020603050405020304" pitchFamily="18" charset="0"/>
              </a:rPr>
              <a:t>N/A</a:t>
            </a:r>
            <a:endParaRPr lang="en-US" altLang="zh-TW" sz="2300" dirty="0" smtClean="0"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zh-TW" altLang="en-US" dirty="0"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792732"/>
              </p:ext>
            </p:extLst>
          </p:nvPr>
        </p:nvGraphicFramePr>
        <p:xfrm>
          <a:off x="2592925" y="1905000"/>
          <a:ext cx="6257290" cy="1920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257290"/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if((</a:t>
                      </a:r>
                      <a:r>
                        <a:rPr lang="en-US" sz="1400" kern="0" dirty="0" err="1">
                          <a:solidFill>
                            <a:srgbClr val="FF0000"/>
                          </a:solidFill>
                          <a:effectLst/>
                        </a:rPr>
                        <a:t>PCIeID</a:t>
                      </a:r>
                      <a:r>
                        <a:rPr lang="en-US" sz="1400" kern="0" dirty="0">
                          <a:solidFill>
                            <a:srgbClr val="FF0000"/>
                          </a:solidFill>
                          <a:effectLst/>
                        </a:rPr>
                        <a:t> == 0 &amp;&amp; </a:t>
                      </a:r>
                      <a:r>
                        <a:rPr lang="en-US" sz="1400" kern="0" dirty="0" err="1">
                          <a:solidFill>
                            <a:srgbClr val="FF0000"/>
                          </a:solidFill>
                          <a:effectLst/>
                        </a:rPr>
                        <a:t>ReqLen</a:t>
                      </a:r>
                      <a:r>
                        <a:rPr lang="en-US" sz="1400" kern="0" dirty="0">
                          <a:solidFill>
                            <a:srgbClr val="FF0000"/>
                          </a:solidFill>
                          <a:effectLst/>
                        </a:rPr>
                        <a:t> != 3</a:t>
                      </a:r>
                      <a:r>
                        <a:rPr lang="en-US" sz="1400" kern="0" dirty="0">
                          <a:effectLst/>
                        </a:rPr>
                        <a:t>) || (</a:t>
                      </a:r>
                      <a:r>
                        <a:rPr lang="en-US" sz="1400" kern="0" dirty="0" err="1">
                          <a:solidFill>
                            <a:srgbClr val="FF0000"/>
                          </a:solidFill>
                          <a:effectLst/>
                        </a:rPr>
                        <a:t>PCIeID</a:t>
                      </a:r>
                      <a:r>
                        <a:rPr lang="en-US" sz="1400" kern="0" dirty="0">
                          <a:solidFill>
                            <a:srgbClr val="FF0000"/>
                          </a:solidFill>
                          <a:effectLst/>
                        </a:rPr>
                        <a:t> != 0 &amp;&amp; </a:t>
                      </a:r>
                      <a:r>
                        <a:rPr lang="en-US" sz="1400" kern="0" dirty="0" err="1">
                          <a:solidFill>
                            <a:srgbClr val="FF0000"/>
                          </a:solidFill>
                          <a:effectLst/>
                        </a:rPr>
                        <a:t>ReqLen</a:t>
                      </a:r>
                      <a:r>
                        <a:rPr lang="en-US" sz="1400" kern="0" dirty="0">
                          <a:solidFill>
                            <a:srgbClr val="FF0000"/>
                          </a:solidFill>
                          <a:effectLst/>
                        </a:rPr>
                        <a:t> != 9</a:t>
                      </a:r>
                      <a:r>
                        <a:rPr lang="en-US" sz="1400" kern="0" dirty="0">
                          <a:effectLst/>
                        </a:rPr>
                        <a:t>)){</a:t>
                      </a:r>
                      <a:endParaRPr lang="zh-TW" sz="14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    </a:t>
                      </a:r>
                      <a:r>
                        <a:rPr lang="en-US" sz="1400" kern="0" dirty="0" err="1">
                          <a:effectLst/>
                        </a:rPr>
                        <a:t>pRes</a:t>
                      </a:r>
                      <a:r>
                        <a:rPr lang="en-US" sz="1400" kern="0" dirty="0">
                          <a:effectLst/>
                        </a:rPr>
                        <a:t>[0] = CC_REQ_INV_LEN;</a:t>
                      </a:r>
                      <a:endParaRPr lang="zh-TW" sz="14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    return (</a:t>
                      </a:r>
                      <a:r>
                        <a:rPr lang="en-US" sz="1400" kern="0" dirty="0" err="1">
                          <a:effectLst/>
                        </a:rPr>
                        <a:t>nLen</a:t>
                      </a:r>
                      <a:r>
                        <a:rPr lang="en-US" sz="1400" kern="0" dirty="0">
                          <a:effectLst/>
                        </a:rPr>
                        <a:t>);</a:t>
                      </a:r>
                      <a:endParaRPr lang="zh-TW" sz="14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}</a:t>
                      </a:r>
                      <a:endParaRPr lang="zh-TW" sz="14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if(</a:t>
                      </a:r>
                      <a:r>
                        <a:rPr lang="en-US" sz="1400" kern="0" dirty="0" err="1">
                          <a:solidFill>
                            <a:srgbClr val="FF0000"/>
                          </a:solidFill>
                          <a:effectLst/>
                        </a:rPr>
                        <a:t>PCIeID</a:t>
                      </a:r>
                      <a:r>
                        <a:rPr lang="en-US" sz="1400" kern="0" dirty="0">
                          <a:solidFill>
                            <a:srgbClr val="FF0000"/>
                          </a:solidFill>
                          <a:effectLst/>
                        </a:rPr>
                        <a:t>&gt; </a:t>
                      </a:r>
                      <a:r>
                        <a:rPr lang="en-US" sz="1400" kern="0" dirty="0" err="1">
                          <a:solidFill>
                            <a:srgbClr val="FF0000"/>
                          </a:solidFill>
                          <a:effectLst/>
                        </a:rPr>
                        <a:t>WCS_MAX_PCIe_INDEX</a:t>
                      </a:r>
                      <a:r>
                        <a:rPr lang="en-US" sz="1400" kern="0" dirty="0">
                          <a:effectLst/>
                        </a:rPr>
                        <a:t>){</a:t>
                      </a:r>
                      <a:endParaRPr lang="zh-TW" sz="14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    BMC_CMD_PRINT("%s %d Input data out of range (1-13) ! \r\</a:t>
                      </a:r>
                      <a:r>
                        <a:rPr lang="en-US" sz="1400" kern="0" dirty="0" err="1">
                          <a:effectLst/>
                        </a:rPr>
                        <a:t>n",__FUNCTION__,__LINE</a:t>
                      </a:r>
                      <a:r>
                        <a:rPr lang="en-US" sz="1400" kern="0" dirty="0">
                          <a:effectLst/>
                        </a:rPr>
                        <a:t>__);</a:t>
                      </a:r>
                      <a:endParaRPr lang="zh-TW" sz="14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    </a:t>
                      </a:r>
                      <a:r>
                        <a:rPr lang="en-US" sz="1400" kern="0" dirty="0" err="1">
                          <a:effectLst/>
                        </a:rPr>
                        <a:t>pRes</a:t>
                      </a:r>
                      <a:r>
                        <a:rPr lang="en-US" sz="1400" kern="0" dirty="0">
                          <a:effectLst/>
                        </a:rPr>
                        <a:t>[0] = CC_PARAM_OUT_OF_RANGE;</a:t>
                      </a:r>
                      <a:endParaRPr lang="zh-TW" sz="1400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        return (n</a:t>
                      </a:r>
                      <a:endParaRPr lang="zh-TW" sz="1400" kern="1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784389" y="1905000"/>
            <a:ext cx="5601730" cy="18741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784388" y="2774732"/>
            <a:ext cx="3105665" cy="18265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99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1977</TotalTime>
  <Words>3049</Words>
  <Application>Microsoft Office PowerPoint</Application>
  <PresentationFormat>寬螢幕</PresentationFormat>
  <Paragraphs>513</Paragraphs>
  <Slides>52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52</vt:i4>
      </vt:variant>
    </vt:vector>
  </HeadingPairs>
  <TitlesOfParts>
    <vt:vector size="62" baseType="lpstr">
      <vt:lpstr>SimSun</vt:lpstr>
      <vt:lpstr>微軟正黑體</vt:lpstr>
      <vt:lpstr>新細明體</vt:lpstr>
      <vt:lpstr>Arial</vt:lpstr>
      <vt:lpstr>Century Gothic</vt:lpstr>
      <vt:lpstr>Courier New</vt:lpstr>
      <vt:lpstr>Times New Roman</vt:lpstr>
      <vt:lpstr>Wingdings</vt:lpstr>
      <vt:lpstr>Wingdings 3</vt:lpstr>
      <vt:lpstr>絲縷</vt:lpstr>
      <vt:lpstr>Introduction to       Code Review</vt:lpstr>
      <vt:lpstr>Agenda</vt:lpstr>
      <vt:lpstr>Why Code Review</vt:lpstr>
      <vt:lpstr>三層架構</vt:lpstr>
      <vt:lpstr>實做(1/4)</vt:lpstr>
      <vt:lpstr>實做(2/4)</vt:lpstr>
      <vt:lpstr>實做(3/4)</vt:lpstr>
      <vt:lpstr>實做(4/4)</vt:lpstr>
      <vt:lpstr>程式風格(1/4)</vt:lpstr>
      <vt:lpstr>程式風格(2/4)</vt:lpstr>
      <vt:lpstr>程式風格(3/4)</vt:lpstr>
      <vt:lpstr>程式風格(4/4)</vt:lpstr>
      <vt:lpstr>Commit Message naming(1/3)</vt:lpstr>
      <vt:lpstr>Commit Message naming(2/3)</vt:lpstr>
      <vt:lpstr>Commit Message naming(3/3)</vt:lpstr>
      <vt:lpstr>Code Review 專案實例 – Amazon</vt:lpstr>
      <vt:lpstr>Code Review – Amazon</vt:lpstr>
      <vt:lpstr>Feature</vt:lpstr>
      <vt:lpstr>Git Server</vt:lpstr>
      <vt:lpstr>Build system</vt:lpstr>
      <vt:lpstr>Review board system</vt:lpstr>
      <vt:lpstr>Review board system</vt:lpstr>
      <vt:lpstr>Code Review  Format</vt:lpstr>
      <vt:lpstr>Example 1: ADC sensor reading</vt:lpstr>
      <vt:lpstr>Example 2 : Sensor API</vt:lpstr>
      <vt:lpstr>Ship code</vt:lpstr>
      <vt:lpstr>Code Review專案實例 – Stryper </vt:lpstr>
      <vt:lpstr>Stryper git 檔案庫</vt:lpstr>
      <vt:lpstr>Get Healthy Plan (1/2)</vt:lpstr>
      <vt:lpstr>Get Healthy Plan(2/2)</vt:lpstr>
      <vt:lpstr>Code Review – Stryper</vt:lpstr>
      <vt:lpstr>Example 1: 5.38 Get Processor Info</vt:lpstr>
      <vt:lpstr>Review function</vt:lpstr>
      <vt:lpstr>Review function - WCSGetPersistentProcessorINFOEEPROM</vt:lpstr>
      <vt:lpstr>Error handling</vt:lpstr>
      <vt:lpstr>Error handling - WCSSetProcessorInfo</vt:lpstr>
      <vt:lpstr>Example 2: 5.39 Get Memory Info</vt:lpstr>
      <vt:lpstr>Review function</vt:lpstr>
      <vt:lpstr>Review function – SetDefaultMemmoryThread(1/2) </vt:lpstr>
      <vt:lpstr>Review function – SetDefaultMemmoryThread(2/2) </vt:lpstr>
      <vt:lpstr>Review function - WCSSetMemoryInfo </vt:lpstr>
      <vt:lpstr>Review function - NVDIMMInit</vt:lpstr>
      <vt:lpstr>Error handling</vt:lpstr>
      <vt:lpstr>Error handling - SetDefaultMemmoryThread </vt:lpstr>
      <vt:lpstr>Error handling - WCSSetMemoryInfo</vt:lpstr>
      <vt:lpstr>Example 3: 5.40 Get PCIe Info</vt:lpstr>
      <vt:lpstr>Review function</vt:lpstr>
      <vt:lpstr>Review function - WCSGetPCIeInfo</vt:lpstr>
      <vt:lpstr>Review function - WCSSetPCIeInfo</vt:lpstr>
      <vt:lpstr>Error handling</vt:lpstr>
      <vt:lpstr>Error handling - WCSGetPCIeInfo</vt:lpstr>
      <vt:lpstr>Error handling - WCSSetPCIeInfo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JyunDe Wu</dc:creator>
  <cp:lastModifiedBy>JyunDe Wu</cp:lastModifiedBy>
  <cp:revision>86</cp:revision>
  <dcterms:created xsi:type="dcterms:W3CDTF">2016-04-27T06:48:54Z</dcterms:created>
  <dcterms:modified xsi:type="dcterms:W3CDTF">2016-04-29T07:13:34Z</dcterms:modified>
</cp:coreProperties>
</file>